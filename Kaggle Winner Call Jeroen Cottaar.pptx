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60" r:id="rId3"/>
    <p:sldId id="261" r:id="rId4"/>
    <p:sldId id="258" r:id="rId5"/>
    <p:sldId id="282" r:id="rId6"/>
    <p:sldId id="284" r:id="rId7"/>
    <p:sldId id="280" r:id="rId8"/>
    <p:sldId id="287" r:id="rId9"/>
    <p:sldId id="279" r:id="rId10"/>
    <p:sldId id="288" r:id="rId11"/>
    <p:sldId id="286" r:id="rId12"/>
    <p:sldId id="277" r:id="rId13"/>
    <p:sldId id="278" r:id="rId14"/>
  </p:sldIdLst>
  <p:sldSz cx="9144000" cy="5143500" type="screen16x9"/>
  <p:notesSz cx="6858000" cy="9144000"/>
  <p:embeddedFontLst>
    <p:embeddedFont>
      <p:font typeface="Arial Narrow" panose="020B0606020202030204" pitchFamily="34" charset="0"/>
      <p:regular r:id="rId17"/>
      <p:bold r:id="rId18"/>
      <p:italic r:id="rId19"/>
      <p:boldItalic r:id="rId20"/>
    </p:embeddedFont>
    <p:embeddedFont>
      <p:font typeface="Cambria Math" panose="02040503050406030204" pitchFamily="18" charset="0"/>
      <p:regular r:id="rId21"/>
    </p:embeddedFont>
    <p:embeddedFont>
      <p:font typeface="Inter" panose="020B0604020202020204" charset="0"/>
      <p:regular r:id="rId22"/>
      <p:bold r:id="rId23"/>
      <p:italic r:id="rId24"/>
      <p:boldItalic r:id="rId25"/>
    </p:embeddedFont>
    <p:embeddedFont>
      <p:font typeface="Open Sans" panose="020B0606030504020204" pitchFamily="34" charset="0"/>
      <p:regular r:id="rId26"/>
      <p:bold r:id="rId27"/>
      <p:italic r:id="rId28"/>
      <p:boldItalic r:id="rId29"/>
    </p:embeddedFont>
    <p:embeddedFont>
      <p:font typeface="Verdana" panose="020B0604030504040204" pitchFamily="3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08">
          <p15:clr>
            <a:srgbClr val="A4A3A4"/>
          </p15:clr>
        </p15:guide>
        <p15:guide id="2" pos="1968">
          <p15:clr>
            <a:srgbClr val="A4A3A4"/>
          </p15:clr>
        </p15:guide>
        <p15:guide id="3" orient="horz" pos="756">
          <p15:clr>
            <a:srgbClr val="A4A3A4"/>
          </p15:clr>
        </p15:guide>
        <p15:guide id="4" pos="1728">
          <p15:clr>
            <a:srgbClr val="A4A3A4"/>
          </p15:clr>
        </p15:guide>
        <p15:guide id="5" pos="2016">
          <p15:clr>
            <a:srgbClr val="A4A3A4"/>
          </p15:clr>
        </p15:guide>
        <p15:guide id="6" orient="horz" pos="2244">
          <p15:clr>
            <a:srgbClr val="A4A3A4"/>
          </p15:clr>
        </p15:guide>
        <p15:guide id="7" orient="horz" pos="948">
          <p15:clr>
            <a:srgbClr val="A4A3A4"/>
          </p15:clr>
        </p15:guide>
        <p15:guide id="8" pos="1872">
          <p15:clr>
            <a:srgbClr val="A4A3A4"/>
          </p15:clr>
        </p15:guide>
        <p15:guide id="9" pos="2544">
          <p15:clr>
            <a:srgbClr val="A4A3A4"/>
          </p15:clr>
        </p15:guide>
        <p15:guide id="10" orient="horz" pos="2100">
          <p15:clr>
            <a:srgbClr val="A4A3A4"/>
          </p15:clr>
        </p15:guide>
        <p15:guide id="11" orient="horz" pos="228">
          <p15:clr>
            <a:srgbClr val="A4A3A4"/>
          </p15:clr>
        </p15:guide>
        <p15:guide id="12" orient="horz" pos="2288">
          <p15:clr>
            <a:srgbClr val="A4A3A4"/>
          </p15:clr>
        </p15:guide>
        <p15:guide id="13" pos="1632">
          <p15:clr>
            <a:srgbClr val="A4A3A4"/>
          </p15:clr>
        </p15:guide>
        <p15:guide id="14" pos="1824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1" roundtripDataSignature="AMtx7mhsjjuIvnMFVpNr84Rn9o5HUti3B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showOutlineIcons="0">
    <p:restoredLeft sz="34576" autoAdjust="0"/>
    <p:restoredTop sz="86413" autoAdjust="0"/>
  </p:normalViewPr>
  <p:slideViewPr>
    <p:cSldViewPr snapToGrid="0">
      <p:cViewPr varScale="1">
        <p:scale>
          <a:sx n="153" d="100"/>
          <a:sy n="153" d="100"/>
        </p:scale>
        <p:origin x="150" y="666"/>
      </p:cViewPr>
      <p:guideLst>
        <p:guide orient="horz" pos="1008"/>
        <p:guide pos="1968"/>
        <p:guide orient="horz" pos="756"/>
        <p:guide pos="1728"/>
        <p:guide pos="2016"/>
        <p:guide orient="horz" pos="2244"/>
        <p:guide orient="horz" pos="948"/>
        <p:guide pos="1872"/>
        <p:guide pos="2544"/>
        <p:guide orient="horz" pos="2100"/>
        <p:guide orient="horz" pos="228"/>
        <p:guide orient="horz" pos="2288"/>
        <p:guide pos="1632"/>
        <p:guide pos="182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528"/>
    </p:cViewPr>
  </p:sorterViewPr>
  <p:notesViewPr>
    <p:cSldViewPr snapToGrid="0">
      <p:cViewPr varScale="1">
        <p:scale>
          <a:sx n="123" d="100"/>
          <a:sy n="123" d="100"/>
        </p:scale>
        <p:origin x="497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21" Type="http://schemas.openxmlformats.org/officeDocument/2006/relationships/font" Target="fonts/font5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font" Target="fonts/font17.fntdata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41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ED568EE-7BF4-ED5C-343F-1D21EE56DFD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95B7A4-BDF8-EA99-14F1-F73207C5BD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158FC1-DF3E-4BCE-8FF8-1DFC850F5AED}" type="datetimeFigureOut">
              <a:rPr lang="en-NL" smtClean="0"/>
              <a:t>2025-08-11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D120CC-F5CB-A90D-0F0E-28D699E68E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565707-81AA-104E-7D8E-0A7863817A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B457BE-42E1-4EEC-AD31-DEDADFA6B97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87864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Recommending picking out he most interesting and important parts from your documentation. </a:t>
            </a: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Mention $700 total cost for inference</a:t>
            </a:r>
            <a:endParaRPr dirty="0"/>
          </a:p>
        </p:txBody>
      </p:sp>
      <p:sp>
        <p:nvSpPr>
          <p:cNvPr id="98" name="Google Shape;98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38702FDD-0E5E-D3D3-2418-E5767F2FD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>
            <a:extLst>
              <a:ext uri="{FF2B5EF4-FFF2-40B4-BE49-F238E27FC236}">
                <a16:creationId xmlns:a16="http://schemas.microsoft.com/office/drawing/2014/main" id="{668BB78B-8E0C-94BA-4A96-A4CA2B2C19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3:notes">
            <a:extLst>
              <a:ext uri="{FF2B5EF4-FFF2-40B4-BE49-F238E27FC236}">
                <a16:creationId xmlns:a16="http://schemas.microsoft.com/office/drawing/2014/main" id="{5C3E522C-9A71-27BE-EEC1-9F504756E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:notes">
            <a:extLst>
              <a:ext uri="{FF2B5EF4-FFF2-40B4-BE49-F238E27FC236}">
                <a16:creationId xmlns:a16="http://schemas.microsoft.com/office/drawing/2014/main" id="{C4381FEC-F0E8-B1BF-D0DB-D9D4E9356F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63809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E7140562-F939-EFCE-63DD-B1A34244E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>
            <a:extLst>
              <a:ext uri="{FF2B5EF4-FFF2-40B4-BE49-F238E27FC236}">
                <a16:creationId xmlns:a16="http://schemas.microsoft.com/office/drawing/2014/main" id="{66D7470F-752D-3A8D-5EC7-582FDB7805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3:notes">
            <a:extLst>
              <a:ext uri="{FF2B5EF4-FFF2-40B4-BE49-F238E27FC236}">
                <a16:creationId xmlns:a16="http://schemas.microsoft.com/office/drawing/2014/main" id="{021D0680-29EF-D436-6BE6-2BB2AF234A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:notes">
            <a:extLst>
              <a:ext uri="{FF2B5EF4-FFF2-40B4-BE49-F238E27FC236}">
                <a16:creationId xmlns:a16="http://schemas.microsoft.com/office/drawing/2014/main" id="{9FA34C8A-8C31-0FF6-8BE1-3F16917D57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02836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6B98735C-8DE0-575F-5BBE-038B0E9F9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>
            <a:extLst>
              <a:ext uri="{FF2B5EF4-FFF2-40B4-BE49-F238E27FC236}">
                <a16:creationId xmlns:a16="http://schemas.microsoft.com/office/drawing/2014/main" id="{867FB8D4-7615-54B1-E03B-0E51FC3306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3:notes">
            <a:extLst>
              <a:ext uri="{FF2B5EF4-FFF2-40B4-BE49-F238E27FC236}">
                <a16:creationId xmlns:a16="http://schemas.microsoft.com/office/drawing/2014/main" id="{65649104-8BAD-D8D6-03E7-199E5FBCE6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:notes">
            <a:extLst>
              <a:ext uri="{FF2B5EF4-FFF2-40B4-BE49-F238E27FC236}">
                <a16:creationId xmlns:a16="http://schemas.microsoft.com/office/drawing/2014/main" id="{ADAD4251-910A-47E4-FE32-9D362EAAB3B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08168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F031EA6F-4CE0-E579-6189-6785790AD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>
            <a:extLst>
              <a:ext uri="{FF2B5EF4-FFF2-40B4-BE49-F238E27FC236}">
                <a16:creationId xmlns:a16="http://schemas.microsoft.com/office/drawing/2014/main" id="{8DEE170D-3EE4-CC98-63E9-1D20A3B9DF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3:notes">
            <a:extLst>
              <a:ext uri="{FF2B5EF4-FFF2-40B4-BE49-F238E27FC236}">
                <a16:creationId xmlns:a16="http://schemas.microsoft.com/office/drawing/2014/main" id="{0CC8CD08-9030-6F42-8C43-2E30391B0D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:notes">
            <a:extLst>
              <a:ext uri="{FF2B5EF4-FFF2-40B4-BE49-F238E27FC236}">
                <a16:creationId xmlns:a16="http://schemas.microsoft.com/office/drawing/2014/main" id="{345A779C-7690-F843-49E6-EB66D2AF75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63440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6696FE28-D810-90B0-9A78-AE9D4FA4E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>
            <a:extLst>
              <a:ext uri="{FF2B5EF4-FFF2-40B4-BE49-F238E27FC236}">
                <a16:creationId xmlns:a16="http://schemas.microsoft.com/office/drawing/2014/main" id="{18895207-CBC4-3CAD-2070-83B620AD3A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3:notes">
            <a:extLst>
              <a:ext uri="{FF2B5EF4-FFF2-40B4-BE49-F238E27FC236}">
                <a16:creationId xmlns:a16="http://schemas.microsoft.com/office/drawing/2014/main" id="{AA7F5DB6-D963-827F-BD10-298C9F766F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:notes">
            <a:extLst>
              <a:ext uri="{FF2B5EF4-FFF2-40B4-BE49-F238E27FC236}">
                <a16:creationId xmlns:a16="http://schemas.microsoft.com/office/drawing/2014/main" id="{C5E71D35-8A4A-8EB7-4C2F-C0A90E166A4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20671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92CA12DC-9DDD-BD46-E70E-19A2AC6E6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>
            <a:extLst>
              <a:ext uri="{FF2B5EF4-FFF2-40B4-BE49-F238E27FC236}">
                <a16:creationId xmlns:a16="http://schemas.microsoft.com/office/drawing/2014/main" id="{D751EF96-EDE3-CF6B-1488-3D1B46E2EA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3:notes">
            <a:extLst>
              <a:ext uri="{FF2B5EF4-FFF2-40B4-BE49-F238E27FC236}">
                <a16:creationId xmlns:a16="http://schemas.microsoft.com/office/drawing/2014/main" id="{4C4AC0E2-3754-6B4A-FB2E-4AEA1AB1D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:notes">
            <a:extLst>
              <a:ext uri="{FF2B5EF4-FFF2-40B4-BE49-F238E27FC236}">
                <a16:creationId xmlns:a16="http://schemas.microsoft.com/office/drawing/2014/main" id="{A8BFFEE9-BF38-BE17-7A78-63FD288A08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56157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A35E813E-E90A-9C8B-8510-53F661046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>
            <a:extLst>
              <a:ext uri="{FF2B5EF4-FFF2-40B4-BE49-F238E27FC236}">
                <a16:creationId xmlns:a16="http://schemas.microsoft.com/office/drawing/2014/main" id="{2AA8C886-0DCD-0B85-2AD7-88CC08E04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3:notes">
            <a:extLst>
              <a:ext uri="{FF2B5EF4-FFF2-40B4-BE49-F238E27FC236}">
                <a16:creationId xmlns:a16="http://schemas.microsoft.com/office/drawing/2014/main" id="{344F428E-9E34-A42B-FC83-76B45BD80F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:notes">
            <a:extLst>
              <a:ext uri="{FF2B5EF4-FFF2-40B4-BE49-F238E27FC236}">
                <a16:creationId xmlns:a16="http://schemas.microsoft.com/office/drawing/2014/main" id="{2F79F347-CFD2-2C75-1EC5-103D5AF6E5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51925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fb201b44d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g2fb201b44d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g2fb201b44d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3"/>
          <p:cNvSpPr txBox="1">
            <a:spLocks noGrp="1"/>
          </p:cNvSpPr>
          <p:nvPr>
            <p:ph type="subTitle" idx="1"/>
          </p:nvPr>
        </p:nvSpPr>
        <p:spPr>
          <a:xfrm>
            <a:off x="460375" y="3146981"/>
            <a:ext cx="8237540" cy="1151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6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>
                <a:solidFill>
                  <a:schemeClr val="dk2"/>
                </a:solidFill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Clr>
                <a:srgbClr val="8B8B8B"/>
              </a:buClr>
              <a:buSzPts val="2400"/>
              <a:buNone/>
              <a:defRPr>
                <a:solidFill>
                  <a:srgbClr val="8B8B8B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B8B8B"/>
              </a:buClr>
              <a:buSzPts val="2000"/>
              <a:buNone/>
              <a:defRPr>
                <a:solidFill>
                  <a:srgbClr val="8B8B8B"/>
                </a:solidFill>
              </a:defRPr>
            </a:lvl3pPr>
            <a:lvl4pPr lvl="3" algn="ctr">
              <a:spcBef>
                <a:spcPts val="36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>
                <a:solidFill>
                  <a:srgbClr val="8B8B8B"/>
                </a:solidFill>
              </a:defRPr>
            </a:lvl4pPr>
            <a:lvl5pPr lvl="4" algn="ctr">
              <a:spcBef>
                <a:spcPts val="36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>
                <a:solidFill>
                  <a:srgbClr val="8B8B8B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B8B8B"/>
              </a:buClr>
              <a:buSzPts val="2000"/>
              <a:buNone/>
              <a:defRPr>
                <a:solidFill>
                  <a:srgbClr val="8B8B8B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B8B8B"/>
              </a:buClr>
              <a:buSzPts val="2000"/>
              <a:buNone/>
              <a:defRPr>
                <a:solidFill>
                  <a:srgbClr val="8B8B8B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B8B8B"/>
              </a:buClr>
              <a:buSzPts val="2000"/>
              <a:buNone/>
              <a:defRPr>
                <a:solidFill>
                  <a:srgbClr val="8B8B8B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B8B8B"/>
              </a:buClr>
              <a:buSzPts val="2000"/>
              <a:buNone/>
              <a:defRPr>
                <a:solidFill>
                  <a:srgbClr val="8B8B8B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3"/>
          <p:cNvSpPr txBox="1">
            <a:spLocks noGrp="1"/>
          </p:cNvSpPr>
          <p:nvPr>
            <p:ph type="title"/>
          </p:nvPr>
        </p:nvSpPr>
        <p:spPr>
          <a:xfrm>
            <a:off x="460380" y="361510"/>
            <a:ext cx="8237539" cy="271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/>
        </p:nvSpPr>
        <p:spPr>
          <a:xfrm>
            <a:off x="3733800" y="4794706"/>
            <a:ext cx="20820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929292"/>
                </a:solidFill>
                <a:latin typeface="Inter"/>
                <a:ea typeface="Inter"/>
                <a:cs typeface="Inter"/>
                <a:sym typeface="Inter"/>
              </a:rPr>
              <a:t>Kaggle Winner Presentation Template</a:t>
            </a:r>
            <a:endParaRPr sz="800" b="0" i="0" u="none" strike="noStrike" cap="none">
              <a:solidFill>
                <a:srgbClr val="92929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" name="Google Shape;17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7109" y="4794706"/>
            <a:ext cx="557815" cy="215444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24"/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B8B8B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B8B8B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B8B8B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B8B8B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B8B8B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B8B8B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B8B8B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B8B8B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B8B8B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uge Chapter Head">
  <p:cSld name="Huge Chapter Head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5"/>
          <p:cNvSpPr txBox="1">
            <a:spLocks noGrp="1"/>
          </p:cNvSpPr>
          <p:nvPr>
            <p:ph type="title"/>
          </p:nvPr>
        </p:nvSpPr>
        <p:spPr>
          <a:xfrm>
            <a:off x="285750" y="2648619"/>
            <a:ext cx="7639050" cy="15022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211111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600">
                <a:solidFill>
                  <a:schemeClr val="dk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5" descr="bb_arrow.png"/>
          <p:cNvSpPr/>
          <p:nvPr/>
        </p:nvSpPr>
        <p:spPr>
          <a:xfrm flipH="1">
            <a:off x="8088630" y="3718467"/>
            <a:ext cx="201168" cy="18973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6"/>
          <p:cNvSpPr txBox="1">
            <a:spLocks noGrp="1"/>
          </p:cNvSpPr>
          <p:nvPr>
            <p:ph type="title"/>
          </p:nvPr>
        </p:nvSpPr>
        <p:spPr>
          <a:xfrm>
            <a:off x="857250" y="427832"/>
            <a:ext cx="7429500" cy="5294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6"/>
          <p:cNvSpPr txBox="1">
            <a:spLocks noGrp="1"/>
          </p:cNvSpPr>
          <p:nvPr>
            <p:ph type="body" idx="1"/>
          </p:nvPr>
        </p:nvSpPr>
        <p:spPr>
          <a:xfrm>
            <a:off x="857250" y="957262"/>
            <a:ext cx="7429500" cy="3583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26" descr="bb_arrow.png"/>
          <p:cNvSpPr/>
          <p:nvPr/>
        </p:nvSpPr>
        <p:spPr>
          <a:xfrm>
            <a:off x="563880" y="610649"/>
            <a:ext cx="201168" cy="18973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7"/>
          <p:cNvSpPr txBox="1">
            <a:spLocks noGrp="1"/>
          </p:cNvSpPr>
          <p:nvPr>
            <p:ph type="title"/>
          </p:nvPr>
        </p:nvSpPr>
        <p:spPr>
          <a:xfrm>
            <a:off x="722313" y="3305179"/>
            <a:ext cx="7772400" cy="10215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7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B8B8B"/>
              </a:buClr>
              <a:buSzPts val="2000"/>
              <a:buNone/>
              <a:defRPr sz="2000">
                <a:solidFill>
                  <a:srgbClr val="8B8B8B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 sz="1800">
                <a:solidFill>
                  <a:srgbClr val="8B8B8B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B8B8B"/>
              </a:buClr>
              <a:buSzPts val="1600"/>
              <a:buNone/>
              <a:defRPr sz="1600">
                <a:solidFill>
                  <a:srgbClr val="8B8B8B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B8B8B"/>
              </a:buClr>
              <a:buSzPts val="1400"/>
              <a:buNone/>
              <a:defRPr sz="1400">
                <a:solidFill>
                  <a:srgbClr val="8B8B8B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B8B8B"/>
              </a:buClr>
              <a:buSzPts val="1400"/>
              <a:buNone/>
              <a:defRPr sz="1400">
                <a:solidFill>
                  <a:srgbClr val="8B8B8B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B8B8B"/>
              </a:buClr>
              <a:buSzPts val="1400"/>
              <a:buNone/>
              <a:defRPr sz="1400">
                <a:solidFill>
                  <a:srgbClr val="8B8B8B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B8B8B"/>
              </a:buClr>
              <a:buSzPts val="1400"/>
              <a:buNone/>
              <a:defRPr sz="1400">
                <a:solidFill>
                  <a:srgbClr val="8B8B8B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B8B8B"/>
              </a:buClr>
              <a:buSzPts val="1400"/>
              <a:buNone/>
              <a:defRPr sz="1400">
                <a:solidFill>
                  <a:srgbClr val="8B8B8B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B8B8B"/>
              </a:buClr>
              <a:buSzPts val="1400"/>
              <a:buNone/>
              <a:defRPr sz="1400">
                <a:solidFill>
                  <a:srgbClr val="8B8B8B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27" descr="bb_arrow.png"/>
          <p:cNvSpPr/>
          <p:nvPr/>
        </p:nvSpPr>
        <p:spPr>
          <a:xfrm>
            <a:off x="463296" y="3461007"/>
            <a:ext cx="201168" cy="18973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8"/>
          <p:cNvSpPr txBox="1">
            <a:spLocks noGrp="1"/>
          </p:cNvSpPr>
          <p:nvPr>
            <p:ph type="title"/>
          </p:nvPr>
        </p:nvSpPr>
        <p:spPr>
          <a:xfrm>
            <a:off x="857250" y="427832"/>
            <a:ext cx="7429500" cy="5294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8"/>
          <p:cNvSpPr txBox="1">
            <a:spLocks noGrp="1"/>
          </p:cNvSpPr>
          <p:nvPr>
            <p:ph type="body" idx="1"/>
          </p:nvPr>
        </p:nvSpPr>
        <p:spPr>
          <a:xfrm>
            <a:off x="457200" y="1200154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175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28"/>
          <p:cNvSpPr txBox="1">
            <a:spLocks noGrp="1"/>
          </p:cNvSpPr>
          <p:nvPr>
            <p:ph type="body" idx="2"/>
          </p:nvPr>
        </p:nvSpPr>
        <p:spPr>
          <a:xfrm>
            <a:off x="4648200" y="1200154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175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4" name="Google Shape;34;p28" descr="bb_arrow.png"/>
          <p:cNvSpPr/>
          <p:nvPr/>
        </p:nvSpPr>
        <p:spPr>
          <a:xfrm>
            <a:off x="563880" y="610649"/>
            <a:ext cx="201168" cy="18973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9"/>
          <p:cNvSpPr txBox="1">
            <a:spLocks noGrp="1"/>
          </p:cNvSpPr>
          <p:nvPr>
            <p:ph type="title"/>
          </p:nvPr>
        </p:nvSpPr>
        <p:spPr>
          <a:xfrm>
            <a:off x="857250" y="427832"/>
            <a:ext cx="7429500" cy="5294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9"/>
          <p:cNvSpPr txBox="1">
            <a:spLocks noGrp="1"/>
          </p:cNvSpPr>
          <p:nvPr>
            <p:ph type="body" idx="1"/>
          </p:nvPr>
        </p:nvSpPr>
        <p:spPr>
          <a:xfrm>
            <a:off x="457200" y="965599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8" name="Google Shape;38;p29"/>
          <p:cNvSpPr txBox="1">
            <a:spLocks noGrp="1"/>
          </p:cNvSpPr>
          <p:nvPr>
            <p:ph type="body" idx="2"/>
          </p:nvPr>
        </p:nvSpPr>
        <p:spPr>
          <a:xfrm>
            <a:off x="457200" y="1445419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175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39" name="Google Shape;39;p29"/>
          <p:cNvSpPr txBox="1">
            <a:spLocks noGrp="1"/>
          </p:cNvSpPr>
          <p:nvPr>
            <p:ph type="body" idx="3"/>
          </p:nvPr>
        </p:nvSpPr>
        <p:spPr>
          <a:xfrm>
            <a:off x="4645031" y="965599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0" name="Google Shape;40;p29"/>
          <p:cNvSpPr txBox="1">
            <a:spLocks noGrp="1"/>
          </p:cNvSpPr>
          <p:nvPr>
            <p:ph type="body" idx="4"/>
          </p:nvPr>
        </p:nvSpPr>
        <p:spPr>
          <a:xfrm>
            <a:off x="4645031" y="1445419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175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1" name="Google Shape;41;p29" descr="bb_arrow.png"/>
          <p:cNvSpPr/>
          <p:nvPr/>
        </p:nvSpPr>
        <p:spPr>
          <a:xfrm>
            <a:off x="563880" y="610649"/>
            <a:ext cx="201168" cy="18973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0"/>
          <p:cNvSpPr txBox="1">
            <a:spLocks noGrp="1"/>
          </p:cNvSpPr>
          <p:nvPr>
            <p:ph type="title"/>
          </p:nvPr>
        </p:nvSpPr>
        <p:spPr>
          <a:xfrm>
            <a:off x="857250" y="427832"/>
            <a:ext cx="7429500" cy="5294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1"/>
          <p:cNvSpPr txBox="1">
            <a:spLocks noGrp="1"/>
          </p:cNvSpPr>
          <p:nvPr>
            <p:ph type="title"/>
          </p:nvPr>
        </p:nvSpPr>
        <p:spPr>
          <a:xfrm>
            <a:off x="704851" y="470395"/>
            <a:ext cx="2703516" cy="7832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body" idx="1"/>
          </p:nvPr>
        </p:nvSpPr>
        <p:spPr>
          <a:xfrm>
            <a:off x="3738756" y="470039"/>
            <a:ext cx="4593838" cy="3945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body" idx="2"/>
          </p:nvPr>
        </p:nvSpPr>
        <p:spPr>
          <a:xfrm>
            <a:off x="704851" y="1254561"/>
            <a:ext cx="2703516" cy="3161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48" name="Google Shape;48;p31" descr="bb_arrow.png"/>
          <p:cNvSpPr/>
          <p:nvPr/>
        </p:nvSpPr>
        <p:spPr>
          <a:xfrm>
            <a:off x="425196" y="786102"/>
            <a:ext cx="201168" cy="18973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857250" y="427832"/>
            <a:ext cx="7429500" cy="5294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1" i="0" u="none" strike="noStrike" cap="non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857250" y="957262"/>
            <a:ext cx="7429500" cy="3583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brendanartley/caformer-full-resolution-improved/notebook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6085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-190500" y="0"/>
            <a:ext cx="94107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55" name="Google Shape;55;p1"/>
          <p:cNvSpPr txBox="1">
            <a:spLocks noGrp="1"/>
          </p:cNvSpPr>
          <p:nvPr>
            <p:ph type="title"/>
          </p:nvPr>
        </p:nvSpPr>
        <p:spPr>
          <a:xfrm>
            <a:off x="1219200" y="1789173"/>
            <a:ext cx="6705600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0" tIns="360000" rIns="91425" bIns="360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Bayesian Full Waveform Inversion</a:t>
            </a:r>
            <a:endParaRPr sz="4000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52900" y="285750"/>
            <a:ext cx="838200" cy="323737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454942">
            <a:off x="-1228906" y="3218494"/>
            <a:ext cx="4189629" cy="244045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2982496">
            <a:off x="6157459" y="-468357"/>
            <a:ext cx="5190308" cy="2964963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"/>
          <p:cNvSpPr txBox="1"/>
          <p:nvPr/>
        </p:nvSpPr>
        <p:spPr>
          <a:xfrm>
            <a:off x="2247900" y="4038613"/>
            <a:ext cx="46482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Jeroen Cottaar</a:t>
            </a:r>
            <a:endParaRPr dirty="0"/>
          </a:p>
        </p:txBody>
      </p:sp>
      <p:sp>
        <p:nvSpPr>
          <p:cNvPr id="2" name="Google Shape;59;p1">
            <a:extLst>
              <a:ext uri="{FF2B5EF4-FFF2-40B4-BE49-F238E27FC236}">
                <a16:creationId xmlns:a16="http://schemas.microsoft.com/office/drawing/2014/main" id="{D8A539CE-D07B-D87A-2B94-C85789E98F4E}"/>
              </a:ext>
            </a:extLst>
          </p:cNvPr>
          <p:cNvSpPr txBox="1"/>
          <p:nvPr/>
        </p:nvSpPr>
        <p:spPr>
          <a:xfrm>
            <a:off x="2247900" y="3242920"/>
            <a:ext cx="46482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r>
              <a:rPr lang="en-US" sz="2000" b="0" i="0" u="none" strike="noStrike" cap="none" baseline="30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nd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place, Yale/UNC-CH - Geophysical Waveform Inversion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"/>
          <p:cNvSpPr txBox="1"/>
          <p:nvPr/>
        </p:nvSpPr>
        <p:spPr>
          <a:xfrm>
            <a:off x="1219200" y="1055133"/>
            <a:ext cx="5829300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 have a PhD in computational physics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 currently work at ASML, a semiconductor equipment company, in the Netherlands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I’ve been applying Bayesian methods in my career for 5 years, and on Kaggle for 1 year</a:t>
            </a:r>
          </a:p>
        </p:txBody>
      </p:sp>
      <p:sp>
        <p:nvSpPr>
          <p:cNvPr id="92" name="Google Shape;92;p5"/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274983" y="183874"/>
            <a:ext cx="513521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Background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94" name="Google Shape;94;p5"/>
          <p:cNvCxnSpPr/>
          <p:nvPr/>
        </p:nvCxnSpPr>
        <p:spPr>
          <a:xfrm>
            <a:off x="304800" y="590550"/>
            <a:ext cx="8597015" cy="0"/>
          </a:xfrm>
          <a:prstGeom prst="straightConnector1">
            <a:avLst/>
          </a:prstGeom>
          <a:noFill/>
          <a:ln w="25400" cap="flat" cmpd="sng">
            <a:solidFill>
              <a:srgbClr val="FAE04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6"/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274983" y="183874"/>
            <a:ext cx="513521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Summary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03" name="Google Shape;103;p6"/>
          <p:cNvCxnSpPr/>
          <p:nvPr/>
        </p:nvCxnSpPr>
        <p:spPr>
          <a:xfrm>
            <a:off x="304800" y="590550"/>
            <a:ext cx="8597015" cy="0"/>
          </a:xfrm>
          <a:prstGeom prst="straightConnector1">
            <a:avLst/>
          </a:prstGeom>
          <a:noFill/>
          <a:ln w="25400" cap="flat" cmpd="sng">
            <a:solidFill>
              <a:srgbClr val="FAE04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3CF8DDB-2A1E-6910-F17C-BA772FD13803}"/>
              </a:ext>
            </a:extLst>
          </p:cNvPr>
          <p:cNvSpPr/>
          <p:nvPr/>
        </p:nvSpPr>
        <p:spPr>
          <a:xfrm>
            <a:off x="1656426" y="1618256"/>
            <a:ext cx="1456882" cy="7089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 learning model by Brendan Artley</a:t>
            </a:r>
            <a:endParaRPr lang="en-NL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CCAFF4-7E02-CF63-FC3D-EB287FD2C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16" y="1369699"/>
            <a:ext cx="1249044" cy="12060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EAFBD80-DDC5-D5A2-CFD0-835F39F0076B}"/>
              </a:ext>
            </a:extLst>
          </p:cNvPr>
          <p:cNvSpPr/>
          <p:nvPr/>
        </p:nvSpPr>
        <p:spPr>
          <a:xfrm>
            <a:off x="3424255" y="1618256"/>
            <a:ext cx="1456882" cy="7089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Select prior: </a:t>
            </a:r>
            <a:r>
              <a:rPr lang="en-US" dirty="0" err="1">
                <a:solidFill>
                  <a:schemeClr val="tx1"/>
                </a:solidFill>
              </a:rPr>
              <a:t>StyleA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StyleB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FlatVel</a:t>
            </a:r>
            <a:r>
              <a:rPr lang="en-US" dirty="0">
                <a:solidFill>
                  <a:schemeClr val="tx1"/>
                </a:solidFill>
              </a:rPr>
              <a:t>, other</a:t>
            </a:r>
            <a:endParaRPr lang="en-NL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9CB08E1-0F39-9346-427C-AB2B683814DF}"/>
                  </a:ext>
                </a:extLst>
              </p:cNvPr>
              <p:cNvSpPr/>
              <p:nvPr/>
            </p:nvSpPr>
            <p:spPr>
              <a:xfrm>
                <a:off x="5126987" y="1618256"/>
                <a:ext cx="2312058" cy="70897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Bayesian FWI: minimize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9CB08E1-0F39-9346-427C-AB2B683814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6987" y="1618256"/>
                <a:ext cx="2312058" cy="708974"/>
              </a:xfrm>
              <a:prstGeom prst="rect">
                <a:avLst/>
              </a:prstGeom>
              <a:blipFill>
                <a:blip r:embed="rId4"/>
                <a:stretch>
                  <a:fillRect t="-826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E0CEF98-19E1-8518-9102-158C6A663C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5814" y="1369699"/>
            <a:ext cx="1216001" cy="120608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309452D-C90C-CEE9-C6D9-782B13EDD382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1423560" y="1972743"/>
            <a:ext cx="2328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7A24E13-B11E-0C89-D1B4-EF435BA1A6DE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3113308" y="1972743"/>
            <a:ext cx="3109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5B3A9FA-923D-2F3F-8646-CCF550AA55F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4881137" y="1972743"/>
            <a:ext cx="2458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0F7B1C-145B-4121-8228-17433077498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439045" y="1972743"/>
            <a:ext cx="2467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E2721FAD-0CD1-2878-3554-848CB674ADA9}"/>
              </a:ext>
            </a:extLst>
          </p:cNvPr>
          <p:cNvSpPr/>
          <p:nvPr/>
        </p:nvSpPr>
        <p:spPr>
          <a:xfrm>
            <a:off x="1496168" y="1369699"/>
            <a:ext cx="374288" cy="350599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NL" sz="1800" b="1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272685E-D8D8-5878-79AC-2893CA2671C1}"/>
              </a:ext>
            </a:extLst>
          </p:cNvPr>
          <p:cNvSpPr/>
          <p:nvPr/>
        </p:nvSpPr>
        <p:spPr>
          <a:xfrm>
            <a:off x="3231897" y="1369697"/>
            <a:ext cx="374288" cy="350599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NL" sz="1800" b="1" dirty="0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7B52785-8998-BFE6-669C-1B847DCC0CED}"/>
              </a:ext>
            </a:extLst>
          </p:cNvPr>
          <p:cNvSpPr/>
          <p:nvPr/>
        </p:nvSpPr>
        <p:spPr>
          <a:xfrm>
            <a:off x="5004940" y="1330776"/>
            <a:ext cx="374288" cy="350599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NL" sz="1800" b="1" dirty="0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D61694E-8521-F8FF-7F0B-E07CBA474309}"/>
              </a:ext>
            </a:extLst>
          </p:cNvPr>
          <p:cNvSpPr/>
          <p:nvPr/>
        </p:nvSpPr>
        <p:spPr>
          <a:xfrm>
            <a:off x="2317355" y="3662717"/>
            <a:ext cx="374288" cy="350599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NL" sz="1800" b="1" dirty="0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10F748E-888E-86F5-E97E-2A43FA8577E9}"/>
              </a:ext>
            </a:extLst>
          </p:cNvPr>
          <p:cNvSpPr/>
          <p:nvPr/>
        </p:nvSpPr>
        <p:spPr>
          <a:xfrm>
            <a:off x="2315164" y="4239887"/>
            <a:ext cx="374288" cy="350599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NL" sz="1800" b="1" dirty="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6CE685-96D1-CB7F-2805-14D90E282820}"/>
              </a:ext>
            </a:extLst>
          </p:cNvPr>
          <p:cNvSpPr txBox="1"/>
          <p:nvPr/>
        </p:nvSpPr>
        <p:spPr>
          <a:xfrm>
            <a:off x="2772483" y="3705539"/>
            <a:ext cx="21146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Making it all fast enough</a:t>
            </a:r>
            <a:endParaRPr lang="en-NL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C75996-C2C7-FCE0-A63A-B98E25C9536C}"/>
              </a:ext>
            </a:extLst>
          </p:cNvPr>
          <p:cNvSpPr txBox="1"/>
          <p:nvPr/>
        </p:nvSpPr>
        <p:spPr>
          <a:xfrm>
            <a:off x="2770292" y="4261297"/>
            <a:ext cx="4342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Final thoughts: Bayesian methods vs deep learning</a:t>
            </a:r>
            <a:endParaRPr lang="en-N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D04F2D-68BD-9A1F-7E9B-F3CE22DABA0C}"/>
              </a:ext>
            </a:extLst>
          </p:cNvPr>
          <p:cNvSpPr txBox="1"/>
          <p:nvPr/>
        </p:nvSpPr>
        <p:spPr>
          <a:xfrm>
            <a:off x="5107920" y="2039164"/>
            <a:ext cx="50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Cost</a:t>
            </a:r>
            <a:endParaRPr lang="en-NL" sz="1200" i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7B0AE8-F9FD-723E-C693-A77E6AADEC39}"/>
              </a:ext>
            </a:extLst>
          </p:cNvPr>
          <p:cNvSpPr txBox="1"/>
          <p:nvPr/>
        </p:nvSpPr>
        <p:spPr>
          <a:xfrm>
            <a:off x="5700516" y="2048406"/>
            <a:ext cx="5084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Prior</a:t>
            </a:r>
            <a:endParaRPr lang="en-NL" sz="1200" i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4A981A-7B9B-4C65-1F66-31B122EFA50B}"/>
              </a:ext>
            </a:extLst>
          </p:cNvPr>
          <p:cNvSpPr txBox="1"/>
          <p:nvPr/>
        </p:nvSpPr>
        <p:spPr>
          <a:xfrm>
            <a:off x="6454839" y="2048406"/>
            <a:ext cx="7793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Residual</a:t>
            </a:r>
            <a:endParaRPr lang="en-NL" sz="1200" i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D1B2E5-3FEE-F4F2-73AC-41D3A11E3702}"/>
              </a:ext>
            </a:extLst>
          </p:cNvPr>
          <p:cNvSpPr txBox="1"/>
          <p:nvPr/>
        </p:nvSpPr>
        <p:spPr>
          <a:xfrm>
            <a:off x="208942" y="2674342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Training</a:t>
            </a:r>
            <a:endParaRPr lang="en-NL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E16EC2-1A62-DA1D-CE84-DD8F13D738A0}"/>
              </a:ext>
            </a:extLst>
          </p:cNvPr>
          <p:cNvSpPr txBox="1"/>
          <p:nvPr/>
        </p:nvSpPr>
        <p:spPr>
          <a:xfrm>
            <a:off x="208942" y="3087071"/>
            <a:ext cx="13843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Inference (per seismogram)</a:t>
            </a:r>
            <a:endParaRPr lang="en-NL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C6F36B-EDB5-1883-1597-795F3E703990}"/>
              </a:ext>
            </a:extLst>
          </p:cNvPr>
          <p:cNvSpPr txBox="1"/>
          <p:nvPr/>
        </p:nvSpPr>
        <p:spPr>
          <a:xfrm>
            <a:off x="1593322" y="2674342"/>
            <a:ext cx="1675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192 hours on 4090</a:t>
            </a:r>
            <a:endParaRPr lang="en-NL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B6466A-DAAC-0431-FBC2-236FF930C3A3}"/>
              </a:ext>
            </a:extLst>
          </p:cNvPr>
          <p:cNvSpPr txBox="1"/>
          <p:nvPr/>
        </p:nvSpPr>
        <p:spPr>
          <a:xfrm>
            <a:off x="1895453" y="3141643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Negligible</a:t>
            </a:r>
            <a:endParaRPr lang="en-NL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11D8DD-5C9E-9834-A3E3-A83CCCCD7EE6}"/>
              </a:ext>
            </a:extLst>
          </p:cNvPr>
          <p:cNvSpPr txBox="1"/>
          <p:nvPr/>
        </p:nvSpPr>
        <p:spPr>
          <a:xfrm>
            <a:off x="3666825" y="2667484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Negligible</a:t>
            </a:r>
            <a:endParaRPr lang="en-NL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AFCF45-9582-1A67-E9C6-7EE916F4B51B}"/>
              </a:ext>
            </a:extLst>
          </p:cNvPr>
          <p:cNvSpPr txBox="1"/>
          <p:nvPr/>
        </p:nvSpPr>
        <p:spPr>
          <a:xfrm>
            <a:off x="3666825" y="3140376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Negligible</a:t>
            </a:r>
            <a:endParaRPr lang="en-NL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3CB4FC-58EE-C80A-5053-027C478AC033}"/>
              </a:ext>
            </a:extLst>
          </p:cNvPr>
          <p:cNvSpPr txBox="1"/>
          <p:nvPr/>
        </p:nvSpPr>
        <p:spPr>
          <a:xfrm>
            <a:off x="5797145" y="2667483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Negligible</a:t>
            </a:r>
            <a:endParaRPr lang="en-NL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4419DC7-A9F6-350B-9BAD-27BEF1AC42CE}"/>
              </a:ext>
            </a:extLst>
          </p:cNvPr>
          <p:cNvSpPr txBox="1"/>
          <p:nvPr/>
        </p:nvSpPr>
        <p:spPr>
          <a:xfrm>
            <a:off x="5438277" y="3140375"/>
            <a:ext cx="16770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 minutes on V100</a:t>
            </a:r>
            <a:endParaRPr lang="en-NL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/>
      <p:bldP spid="36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"/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274983" y="183874"/>
            <a:ext cx="513521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Deep learning provides the initial solution</a:t>
            </a:r>
            <a:endParaRPr sz="1600" b="1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77" name="Google Shape;77;p3"/>
          <p:cNvCxnSpPr/>
          <p:nvPr/>
        </p:nvCxnSpPr>
        <p:spPr>
          <a:xfrm>
            <a:off x="304800" y="590550"/>
            <a:ext cx="8597015" cy="0"/>
          </a:xfrm>
          <a:prstGeom prst="straightConnector1">
            <a:avLst/>
          </a:prstGeom>
          <a:noFill/>
          <a:ln w="25400" cap="flat" cmpd="sng">
            <a:solidFill>
              <a:srgbClr val="FAE04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" name="Google Shape;91;p5">
            <a:extLst>
              <a:ext uri="{FF2B5EF4-FFF2-40B4-BE49-F238E27FC236}">
                <a16:creationId xmlns:a16="http://schemas.microsoft.com/office/drawing/2014/main" id="{36CDD1E7-6E6A-2A45-16DF-4CE109683A56}"/>
              </a:ext>
            </a:extLst>
          </p:cNvPr>
          <p:cNvSpPr txBox="1"/>
          <p:nvPr/>
        </p:nvSpPr>
        <p:spPr>
          <a:xfrm>
            <a:off x="1219200" y="1055133"/>
            <a:ext cx="5829300" cy="4154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 used the model public shared by Brendan Artley early in the competition; I made no attempts to improve it (assuming deep learning could not go much further…)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Model is </a:t>
            </a:r>
            <a:r>
              <a:rPr lang="en-US" sz="2000" dirty="0" err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CAFormer</a:t>
            </a: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, a vision transform model with cross-attention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Additional tricks: pixel shuffle (better </a:t>
            </a:r>
            <a:r>
              <a:rPr lang="en-US" sz="2000" dirty="0" err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upsampling</a:t>
            </a: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), intermediate convolution, spatial and channel squeeze-and-excitation</a:t>
            </a:r>
          </a:p>
          <a:p>
            <a:pPr marL="285750" lvl="0" indent="-285750">
              <a:lnSpc>
                <a:spcPct val="120000"/>
              </a:lnSpc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Everything I know: </a:t>
            </a: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Brendan's notebook</a:t>
            </a:r>
            <a:endParaRPr lang="en-US" sz="2000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>
          <a:extLst>
            <a:ext uri="{FF2B5EF4-FFF2-40B4-BE49-F238E27FC236}">
              <a16:creationId xmlns:a16="http://schemas.microsoft.com/office/drawing/2014/main" id="{53428220-9365-6981-EFCA-93DC89450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">
            <a:extLst>
              <a:ext uri="{FF2B5EF4-FFF2-40B4-BE49-F238E27FC236}">
                <a16:creationId xmlns:a16="http://schemas.microsoft.com/office/drawing/2014/main" id="{1E80D76F-BC73-B6A7-30FE-F69F156FD96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76" name="Google Shape;76;p3">
            <a:extLst>
              <a:ext uri="{FF2B5EF4-FFF2-40B4-BE49-F238E27FC236}">
                <a16:creationId xmlns:a16="http://schemas.microsoft.com/office/drawing/2014/main" id="{244379B4-D738-3A40-04FE-DBD74411BFDF}"/>
              </a:ext>
            </a:extLst>
          </p:cNvPr>
          <p:cNvSpPr/>
          <p:nvPr/>
        </p:nvSpPr>
        <p:spPr>
          <a:xfrm>
            <a:off x="274983" y="183874"/>
            <a:ext cx="513521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 err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StyleA</a:t>
            </a:r>
            <a:r>
              <a:rPr lang="en-US" sz="1200" b="1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: Gaussian Process prior</a:t>
            </a:r>
            <a:endParaRPr sz="1600" b="1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77" name="Google Shape;77;p3">
            <a:extLst>
              <a:ext uri="{FF2B5EF4-FFF2-40B4-BE49-F238E27FC236}">
                <a16:creationId xmlns:a16="http://schemas.microsoft.com/office/drawing/2014/main" id="{9B6A8759-34DF-3F60-5C27-2AB205ECD35A}"/>
              </a:ext>
            </a:extLst>
          </p:cNvPr>
          <p:cNvCxnSpPr/>
          <p:nvPr/>
        </p:nvCxnSpPr>
        <p:spPr>
          <a:xfrm>
            <a:off x="304800" y="590550"/>
            <a:ext cx="8597015" cy="0"/>
          </a:xfrm>
          <a:prstGeom prst="straightConnector1">
            <a:avLst/>
          </a:prstGeom>
          <a:noFill/>
          <a:ln w="25400" cap="flat" cmpd="sng">
            <a:solidFill>
              <a:srgbClr val="FAE04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12E452F1-BD0B-E615-A18A-F744BE6DC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686" y="2682584"/>
            <a:ext cx="2269052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A56E46B5-8CC8-84F5-58DE-8B2A519603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39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16F0C56-A7A5-6D61-A29F-CDDA00BC9D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1712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8685211F-ADD2-0E69-ECB1-DA667741A8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1712" y="2682584"/>
            <a:ext cx="2269052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D5D8D391-A01E-FD0E-3F09-9E80EE4F5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686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7F1B53-887D-BBE2-DCD2-3B5EC5BDD478}"/>
              </a:ext>
            </a:extLst>
          </p:cNvPr>
          <p:cNvSpPr txBox="1"/>
          <p:nvPr/>
        </p:nvSpPr>
        <p:spPr>
          <a:xfrm>
            <a:off x="190333" y="2834639"/>
            <a:ext cx="297901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Prior: Gaussian Process with squared-exponential kernel, no noise</a:t>
            </a:r>
          </a:p>
          <a:p>
            <a:endParaRPr lang="en-US" dirty="0"/>
          </a:p>
          <a:p>
            <a:r>
              <a:rPr lang="en-US" dirty="0"/>
              <a:t>Hyperparameters trained using maximum likelihood estimation on training velocity profiles</a:t>
            </a:r>
            <a:endParaRPr lang="en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C31C9-FFD6-900B-E5E9-B0F90D16F73E}"/>
              </a:ext>
            </a:extLst>
          </p:cNvPr>
          <p:cNvSpPr txBox="1"/>
          <p:nvPr/>
        </p:nvSpPr>
        <p:spPr>
          <a:xfrm>
            <a:off x="6164981" y="4761566"/>
            <a:ext cx="2281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Public test set score: 3.4</a:t>
            </a:r>
            <a:endParaRPr lang="en-NL" b="1" dirty="0"/>
          </a:p>
        </p:txBody>
      </p:sp>
    </p:spTree>
    <p:extLst>
      <p:ext uri="{BB962C8B-B14F-4D97-AF65-F5344CB8AC3E}">
        <p14:creationId xmlns:p14="http://schemas.microsoft.com/office/powerpoint/2010/main" val="100350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>
          <a:extLst>
            <a:ext uri="{FF2B5EF4-FFF2-40B4-BE49-F238E27FC236}">
              <a16:creationId xmlns:a16="http://schemas.microsoft.com/office/drawing/2014/main" id="{3B4E7918-48A2-FC8C-F635-4BF181020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">
            <a:extLst>
              <a:ext uri="{FF2B5EF4-FFF2-40B4-BE49-F238E27FC236}">
                <a16:creationId xmlns:a16="http://schemas.microsoft.com/office/drawing/2014/main" id="{F984BF0D-6106-6970-BF20-AAB360F884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76" name="Google Shape;76;p3">
            <a:extLst>
              <a:ext uri="{FF2B5EF4-FFF2-40B4-BE49-F238E27FC236}">
                <a16:creationId xmlns:a16="http://schemas.microsoft.com/office/drawing/2014/main" id="{BC8ADF92-572D-30A1-6C22-E025D8358C7C}"/>
              </a:ext>
            </a:extLst>
          </p:cNvPr>
          <p:cNvSpPr/>
          <p:nvPr/>
        </p:nvSpPr>
        <p:spPr>
          <a:xfrm>
            <a:off x="274983" y="183874"/>
            <a:ext cx="513521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 err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StyleB</a:t>
            </a:r>
            <a:r>
              <a:rPr lang="en-US" sz="1200" b="1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: Gaussian Process prior (not doing so well…)</a:t>
            </a:r>
            <a:endParaRPr sz="1600" b="1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77" name="Google Shape;77;p3">
            <a:extLst>
              <a:ext uri="{FF2B5EF4-FFF2-40B4-BE49-F238E27FC236}">
                <a16:creationId xmlns:a16="http://schemas.microsoft.com/office/drawing/2014/main" id="{0119711E-2A8A-1CCF-FB1C-BEAF1CAF84CC}"/>
              </a:ext>
            </a:extLst>
          </p:cNvPr>
          <p:cNvCxnSpPr/>
          <p:nvPr/>
        </p:nvCxnSpPr>
        <p:spPr>
          <a:xfrm>
            <a:off x="304800" y="590550"/>
            <a:ext cx="8597015" cy="0"/>
          </a:xfrm>
          <a:prstGeom prst="straightConnector1">
            <a:avLst/>
          </a:prstGeom>
          <a:noFill/>
          <a:ln w="25400" cap="flat" cmpd="sng">
            <a:solidFill>
              <a:srgbClr val="FAE04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64E33B7-C9E3-0457-D0BD-8CF1BA6337D8}"/>
              </a:ext>
            </a:extLst>
          </p:cNvPr>
          <p:cNvSpPr txBox="1"/>
          <p:nvPr/>
        </p:nvSpPr>
        <p:spPr>
          <a:xfrm>
            <a:off x="190333" y="2834639"/>
            <a:ext cx="29790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Prior: Gaussian Process with squared-exponential kernel, with noise</a:t>
            </a:r>
          </a:p>
          <a:p>
            <a:endParaRPr lang="en-US" dirty="0"/>
          </a:p>
          <a:p>
            <a:r>
              <a:rPr lang="en-US" dirty="0"/>
              <a:t>Hyperparameters trained using maximum likelihood estimation on training velocity profiles</a:t>
            </a:r>
          </a:p>
          <a:p>
            <a:endParaRPr lang="en-US" dirty="0"/>
          </a:p>
          <a:p>
            <a:r>
              <a:rPr lang="en-US" dirty="0"/>
              <a:t>Hard to capture high-frequent stuff</a:t>
            </a:r>
            <a:endParaRPr lang="en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B6A32B-B8D2-9654-35AA-6CD50DAD6493}"/>
              </a:ext>
            </a:extLst>
          </p:cNvPr>
          <p:cNvSpPr txBox="1"/>
          <p:nvPr/>
        </p:nvSpPr>
        <p:spPr>
          <a:xfrm>
            <a:off x="6164981" y="4761566"/>
            <a:ext cx="2582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Public test set score: 44.4 </a:t>
            </a:r>
            <a:r>
              <a:rPr lang="en-US" b="1" dirty="0">
                <a:sym typeface="Wingdings" panose="05000000000000000000" pitchFamily="2" charset="2"/>
              </a:rPr>
              <a:t></a:t>
            </a:r>
            <a:endParaRPr lang="en-NL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6634BE2-5A3E-3CCA-9F7F-F6EAD06B9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39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56D0B1F-7C12-93A2-58B9-168F6F6DA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1712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91961F5B-ADCD-2030-58F6-5C9C47B63D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1712" y="2682584"/>
            <a:ext cx="2269052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A62A1D6C-E342-46A4-F898-D5A2313899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686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F7F6D391-AF47-053E-4A04-C57E79BE5D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686" y="2682584"/>
            <a:ext cx="2269052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0170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>
          <a:extLst>
            <a:ext uri="{FF2B5EF4-FFF2-40B4-BE49-F238E27FC236}">
              <a16:creationId xmlns:a16="http://schemas.microsoft.com/office/drawing/2014/main" id="{50A79C4B-7A83-A76E-27CC-1BD3B4F34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">
            <a:extLst>
              <a:ext uri="{FF2B5EF4-FFF2-40B4-BE49-F238E27FC236}">
                <a16:creationId xmlns:a16="http://schemas.microsoft.com/office/drawing/2014/main" id="{556D9D4A-4B3F-5A29-92C1-FD9F52EDA1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76" name="Google Shape;76;p3">
            <a:extLst>
              <a:ext uri="{FF2B5EF4-FFF2-40B4-BE49-F238E27FC236}">
                <a16:creationId xmlns:a16="http://schemas.microsoft.com/office/drawing/2014/main" id="{64F09719-D775-5EF4-D21E-FAC7B8771C56}"/>
              </a:ext>
            </a:extLst>
          </p:cNvPr>
          <p:cNvSpPr/>
          <p:nvPr/>
        </p:nvSpPr>
        <p:spPr>
          <a:xfrm>
            <a:off x="274983" y="183874"/>
            <a:ext cx="513521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 err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FlatVelA+B</a:t>
            </a:r>
            <a:r>
              <a:rPr lang="en-US" sz="1200" b="1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: 1D total variation prior </a:t>
            </a:r>
            <a:endParaRPr sz="1600" b="1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77" name="Google Shape;77;p3">
            <a:extLst>
              <a:ext uri="{FF2B5EF4-FFF2-40B4-BE49-F238E27FC236}">
                <a16:creationId xmlns:a16="http://schemas.microsoft.com/office/drawing/2014/main" id="{1B6C873B-8056-F749-56DB-AFD8EC3B76D1}"/>
              </a:ext>
            </a:extLst>
          </p:cNvPr>
          <p:cNvCxnSpPr/>
          <p:nvPr/>
        </p:nvCxnSpPr>
        <p:spPr>
          <a:xfrm>
            <a:off x="304800" y="590550"/>
            <a:ext cx="8597015" cy="0"/>
          </a:xfrm>
          <a:prstGeom prst="straightConnector1">
            <a:avLst/>
          </a:prstGeom>
          <a:noFill/>
          <a:ln w="25400" cap="flat" cmpd="sng">
            <a:solidFill>
              <a:srgbClr val="FAE04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B71A37F-9F1F-5DF6-2D08-11981494A5DD}"/>
              </a:ext>
            </a:extLst>
          </p:cNvPr>
          <p:cNvSpPr txBox="1"/>
          <p:nvPr/>
        </p:nvSpPr>
        <p:spPr>
          <a:xfrm>
            <a:off x="190333" y="2834639"/>
            <a:ext cx="297901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Prior: 1D total variation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Allows sharp jumps, dislikes wiggles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8F1015-7197-D332-126A-CE9E475F5B92}"/>
              </a:ext>
            </a:extLst>
          </p:cNvPr>
          <p:cNvSpPr txBox="1"/>
          <p:nvPr/>
        </p:nvSpPr>
        <p:spPr>
          <a:xfrm>
            <a:off x="6164981" y="4761566"/>
            <a:ext cx="2281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Public test set score: 0.0</a:t>
            </a:r>
            <a:endParaRPr lang="en-NL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100A64-1C6A-611A-46B6-A18B131D4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954" y="3183308"/>
            <a:ext cx="1965118" cy="720094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7F3D99C-8674-0E92-C471-3C97845388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39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2C5137A2-3948-26DB-9E8F-9AA8690D71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1712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B69BF865-78B8-70A9-1B21-D5FC428BA9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1712" y="2682584"/>
            <a:ext cx="2269052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25B90280-448C-7416-45D1-BEC377751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686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>
            <a:extLst>
              <a:ext uri="{FF2B5EF4-FFF2-40B4-BE49-F238E27FC236}">
                <a16:creationId xmlns:a16="http://schemas.microsoft.com/office/drawing/2014/main" id="{20D0BAF2-46D2-2CDF-3C28-892E71D7D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686" y="2682584"/>
            <a:ext cx="2269052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7547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>
          <a:extLst>
            <a:ext uri="{FF2B5EF4-FFF2-40B4-BE49-F238E27FC236}">
              <a16:creationId xmlns:a16="http://schemas.microsoft.com/office/drawing/2014/main" id="{1CBA5EE3-C29E-9825-748E-7FDC1DC42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">
            <a:extLst>
              <a:ext uri="{FF2B5EF4-FFF2-40B4-BE49-F238E27FC236}">
                <a16:creationId xmlns:a16="http://schemas.microsoft.com/office/drawing/2014/main" id="{8B4387C6-E7CC-D19D-2AB0-8ABE5072AC6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76" name="Google Shape;76;p3">
            <a:extLst>
              <a:ext uri="{FF2B5EF4-FFF2-40B4-BE49-F238E27FC236}">
                <a16:creationId xmlns:a16="http://schemas.microsoft.com/office/drawing/2014/main" id="{59DD7718-F948-F075-0C8B-AACE604D2B2C}"/>
              </a:ext>
            </a:extLst>
          </p:cNvPr>
          <p:cNvSpPr/>
          <p:nvPr/>
        </p:nvSpPr>
        <p:spPr>
          <a:xfrm>
            <a:off x="274983" y="183874"/>
            <a:ext cx="513521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1200" b="1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All except </a:t>
            </a:r>
            <a:r>
              <a:rPr lang="en-US" sz="1200" b="1" dirty="0" err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FlatVel</a:t>
            </a:r>
            <a:r>
              <a:rPr lang="en-US" sz="1200" b="1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and Style: 2D total variation prior </a:t>
            </a:r>
            <a:endParaRPr lang="en-US" sz="1600" b="1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77" name="Google Shape;77;p3">
            <a:extLst>
              <a:ext uri="{FF2B5EF4-FFF2-40B4-BE49-F238E27FC236}">
                <a16:creationId xmlns:a16="http://schemas.microsoft.com/office/drawing/2014/main" id="{439CA1ED-87A6-2AED-259D-3BAF8B774DE9}"/>
              </a:ext>
            </a:extLst>
          </p:cNvPr>
          <p:cNvCxnSpPr/>
          <p:nvPr/>
        </p:nvCxnSpPr>
        <p:spPr>
          <a:xfrm>
            <a:off x="304800" y="590550"/>
            <a:ext cx="8597015" cy="0"/>
          </a:xfrm>
          <a:prstGeom prst="straightConnector1">
            <a:avLst/>
          </a:prstGeom>
          <a:noFill/>
          <a:ln w="25400" cap="flat" cmpd="sng">
            <a:solidFill>
              <a:srgbClr val="FAE04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A543784-D03F-D6A2-F4DD-D9D5E494A5C9}"/>
              </a:ext>
            </a:extLst>
          </p:cNvPr>
          <p:cNvSpPr txBox="1"/>
          <p:nvPr/>
        </p:nvSpPr>
        <p:spPr>
          <a:xfrm>
            <a:off x="190333" y="2834639"/>
            <a:ext cx="29790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Prior: 2D total variation</a:t>
            </a:r>
          </a:p>
          <a:p>
            <a:endParaRPr lang="en-US" dirty="0"/>
          </a:p>
          <a:p>
            <a:r>
              <a:rPr lang="en-US" dirty="0"/>
              <a:t>Hard to capture details near the faults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3ABF1-5303-47F5-EAC4-E440A418129F}"/>
              </a:ext>
            </a:extLst>
          </p:cNvPr>
          <p:cNvSpPr txBox="1"/>
          <p:nvPr/>
        </p:nvSpPr>
        <p:spPr>
          <a:xfrm>
            <a:off x="6164981" y="4761566"/>
            <a:ext cx="2281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Public test set score: 4.9</a:t>
            </a:r>
            <a:endParaRPr lang="en-NL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E8ED942-569A-ACEB-DA73-E432DF171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39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5ECF5E8C-85FB-A0FC-F374-537A78B78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1712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6BC543F2-69A1-7613-8494-FB6482BE1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1712" y="2682584"/>
            <a:ext cx="2269052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5EB1C7D5-297E-DC92-6581-567B089F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686" y="702584"/>
            <a:ext cx="2297956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>
            <a:extLst>
              <a:ext uri="{FF2B5EF4-FFF2-40B4-BE49-F238E27FC236}">
                <a16:creationId xmlns:a16="http://schemas.microsoft.com/office/drawing/2014/main" id="{D5F391D4-90E9-6A4B-F7C2-0E1C30DC9C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686" y="2682584"/>
            <a:ext cx="2269052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9615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>
          <a:extLst>
            <a:ext uri="{FF2B5EF4-FFF2-40B4-BE49-F238E27FC236}">
              <a16:creationId xmlns:a16="http://schemas.microsoft.com/office/drawing/2014/main" id="{B23D8C49-2CDB-03F8-23B2-52B81A411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">
            <a:extLst>
              <a:ext uri="{FF2B5EF4-FFF2-40B4-BE49-F238E27FC236}">
                <a16:creationId xmlns:a16="http://schemas.microsoft.com/office/drawing/2014/main" id="{65229B62-7007-3837-0ABE-EF3D028430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76" name="Google Shape;76;p3">
            <a:extLst>
              <a:ext uri="{FF2B5EF4-FFF2-40B4-BE49-F238E27FC236}">
                <a16:creationId xmlns:a16="http://schemas.microsoft.com/office/drawing/2014/main" id="{1C67E41A-BF9A-80CB-EC7B-9D8B1363F463}"/>
              </a:ext>
            </a:extLst>
          </p:cNvPr>
          <p:cNvSpPr/>
          <p:nvPr/>
        </p:nvSpPr>
        <p:spPr>
          <a:xfrm>
            <a:off x="274983" y="183874"/>
            <a:ext cx="513521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Bayesian Full Waveform Inversion with BFGS and Gauss-Newton</a:t>
            </a:r>
            <a:endParaRPr sz="1600" b="1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77" name="Google Shape;77;p3">
            <a:extLst>
              <a:ext uri="{FF2B5EF4-FFF2-40B4-BE49-F238E27FC236}">
                <a16:creationId xmlns:a16="http://schemas.microsoft.com/office/drawing/2014/main" id="{F3290FFB-39C9-3C0E-3BFA-CB6937F6DB24}"/>
              </a:ext>
            </a:extLst>
          </p:cNvPr>
          <p:cNvCxnSpPr/>
          <p:nvPr/>
        </p:nvCxnSpPr>
        <p:spPr>
          <a:xfrm>
            <a:off x="304800" y="590550"/>
            <a:ext cx="8597015" cy="0"/>
          </a:xfrm>
          <a:prstGeom prst="straightConnector1">
            <a:avLst/>
          </a:prstGeom>
          <a:noFill/>
          <a:ln w="25400" cap="flat" cmpd="sng">
            <a:solidFill>
              <a:srgbClr val="FAE04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" name="Google Shape;91;p5">
            <a:extLst>
              <a:ext uri="{FF2B5EF4-FFF2-40B4-BE49-F238E27FC236}">
                <a16:creationId xmlns:a16="http://schemas.microsoft.com/office/drawing/2014/main" id="{9FAF151A-E84C-22F7-8344-6B42C3771F10}"/>
              </a:ext>
            </a:extLst>
          </p:cNvPr>
          <p:cNvSpPr txBox="1"/>
          <p:nvPr/>
        </p:nvSpPr>
        <p:spPr>
          <a:xfrm>
            <a:off x="1219200" y="1055133"/>
            <a:ext cx="5829300" cy="4154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Solver makes use of BFGS and Gauss-Newton in various combinations per family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History size for BFGS was unlimited – even beyond the number of parameters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Gauss-Newton is always with full inversion (not iterative approximation)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The final choice is not really optimal; it evolved this way because I kept refining and reusing previous results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 could find no benefit from preconditioning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718900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>
          <a:extLst>
            <a:ext uri="{FF2B5EF4-FFF2-40B4-BE49-F238E27FC236}">
              <a16:creationId xmlns:a16="http://schemas.microsoft.com/office/drawing/2014/main" id="{C4D7EC24-8735-D902-47CF-CD2565391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">
            <a:extLst>
              <a:ext uri="{FF2B5EF4-FFF2-40B4-BE49-F238E27FC236}">
                <a16:creationId xmlns:a16="http://schemas.microsoft.com/office/drawing/2014/main" id="{18946A98-B518-393F-0D3A-78CBE11A90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76" name="Google Shape;76;p3">
            <a:extLst>
              <a:ext uri="{FF2B5EF4-FFF2-40B4-BE49-F238E27FC236}">
                <a16:creationId xmlns:a16="http://schemas.microsoft.com/office/drawing/2014/main" id="{F565B0F0-E9C0-5C44-D93B-95B48CB12527}"/>
              </a:ext>
            </a:extLst>
          </p:cNvPr>
          <p:cNvSpPr/>
          <p:nvPr/>
        </p:nvSpPr>
        <p:spPr>
          <a:xfrm>
            <a:off x="274983" y="183874"/>
            <a:ext cx="513521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1200" b="1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Speedup and cost reduction techniques</a:t>
            </a:r>
            <a:endParaRPr lang="en-US" sz="1600" b="1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77" name="Google Shape;77;p3">
            <a:extLst>
              <a:ext uri="{FF2B5EF4-FFF2-40B4-BE49-F238E27FC236}">
                <a16:creationId xmlns:a16="http://schemas.microsoft.com/office/drawing/2014/main" id="{DC969022-8C3F-2675-9FF3-B7E9389B25D4}"/>
              </a:ext>
            </a:extLst>
          </p:cNvPr>
          <p:cNvCxnSpPr/>
          <p:nvPr/>
        </p:nvCxnSpPr>
        <p:spPr>
          <a:xfrm>
            <a:off x="304800" y="590550"/>
            <a:ext cx="8597015" cy="0"/>
          </a:xfrm>
          <a:prstGeom prst="straightConnector1">
            <a:avLst/>
          </a:prstGeom>
          <a:noFill/>
          <a:ln w="25400" cap="flat" cmpd="sng">
            <a:solidFill>
              <a:srgbClr val="FAE04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" name="Google Shape;91;p5">
            <a:extLst>
              <a:ext uri="{FF2B5EF4-FFF2-40B4-BE49-F238E27FC236}">
                <a16:creationId xmlns:a16="http://schemas.microsoft.com/office/drawing/2014/main" id="{832B6FDC-B8D6-52B5-13F1-3A964ABDBE3E}"/>
              </a:ext>
            </a:extLst>
          </p:cNvPr>
          <p:cNvSpPr txBox="1"/>
          <p:nvPr/>
        </p:nvSpPr>
        <p:spPr>
          <a:xfrm>
            <a:off x="1219200" y="1055133"/>
            <a:ext cx="5829300" cy="341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Custom CUDA kernel for forward modeling: 30 </a:t>
            </a:r>
            <a:r>
              <a:rPr lang="en-US" sz="2000" dirty="0" err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ms</a:t>
            </a: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to compute seismogram, 70 </a:t>
            </a:r>
            <a:r>
              <a:rPr lang="en-US" sz="2000" dirty="0" err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ms</a:t>
            </a: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for backward pass to compute gradients (manually implemented, not through Torch)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Custom CUDA kernel to speed up Hessian inversion steps in BFGS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Cost reduction: using V100, an older and cheaper GPU with excellent FP64 performance</a:t>
            </a:r>
          </a:p>
        </p:txBody>
      </p:sp>
    </p:spTree>
    <p:extLst>
      <p:ext uri="{BB962C8B-B14F-4D97-AF65-F5344CB8AC3E}">
        <p14:creationId xmlns:p14="http://schemas.microsoft.com/office/powerpoint/2010/main" val="3932194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>
          <a:extLst>
            <a:ext uri="{FF2B5EF4-FFF2-40B4-BE49-F238E27FC236}">
              <a16:creationId xmlns:a16="http://schemas.microsoft.com/office/drawing/2014/main" id="{4EA77980-5942-1BF1-2857-CEF29DBC2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">
            <a:extLst>
              <a:ext uri="{FF2B5EF4-FFF2-40B4-BE49-F238E27FC236}">
                <a16:creationId xmlns:a16="http://schemas.microsoft.com/office/drawing/2014/main" id="{4916815F-BA95-CA82-577A-874D18CF51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76" name="Google Shape;76;p3">
            <a:extLst>
              <a:ext uri="{FF2B5EF4-FFF2-40B4-BE49-F238E27FC236}">
                <a16:creationId xmlns:a16="http://schemas.microsoft.com/office/drawing/2014/main" id="{117D2BFA-5863-B4F5-97BB-DB11B92C62D9}"/>
              </a:ext>
            </a:extLst>
          </p:cNvPr>
          <p:cNvSpPr/>
          <p:nvPr/>
        </p:nvSpPr>
        <p:spPr>
          <a:xfrm>
            <a:off x="274983" y="183874"/>
            <a:ext cx="51352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Closing thoughts: deep learning vs Bayesian methods for full waveform inversion – within the confines of this competition</a:t>
            </a:r>
            <a:endParaRPr sz="1600" b="1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77" name="Google Shape;77;p3">
            <a:extLst>
              <a:ext uri="{FF2B5EF4-FFF2-40B4-BE49-F238E27FC236}">
                <a16:creationId xmlns:a16="http://schemas.microsoft.com/office/drawing/2014/main" id="{0B09DD98-AF0E-6111-B962-5E35CAB9C6E7}"/>
              </a:ext>
            </a:extLst>
          </p:cNvPr>
          <p:cNvCxnSpPr/>
          <p:nvPr/>
        </p:nvCxnSpPr>
        <p:spPr>
          <a:xfrm>
            <a:off x="304800" y="590550"/>
            <a:ext cx="8597015" cy="0"/>
          </a:xfrm>
          <a:prstGeom prst="straightConnector1">
            <a:avLst/>
          </a:prstGeom>
          <a:noFill/>
          <a:ln w="25400" cap="flat" cmpd="sng">
            <a:solidFill>
              <a:srgbClr val="FAE04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" name="Google Shape;91;p5">
            <a:extLst>
              <a:ext uri="{FF2B5EF4-FFF2-40B4-BE49-F238E27FC236}">
                <a16:creationId xmlns:a16="http://schemas.microsoft.com/office/drawing/2014/main" id="{238690AD-6D4F-6DA9-09B4-740477883E31}"/>
              </a:ext>
            </a:extLst>
          </p:cNvPr>
          <p:cNvSpPr txBox="1"/>
          <p:nvPr/>
        </p:nvSpPr>
        <p:spPr>
          <a:xfrm>
            <a:off x="1178104" y="3284625"/>
            <a:ext cx="6137096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Not black or white: can use hybrid approaches</a:t>
            </a: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Big unknown: how does this all scale to the real world – especially to 3D and unclear priors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429F2B-9495-0753-3DB0-EA7FCF621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184629"/>
              </p:ext>
            </p:extLst>
          </p:nvPr>
        </p:nvGraphicFramePr>
        <p:xfrm>
          <a:off x="1400711" y="955291"/>
          <a:ext cx="60960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430392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18050003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553764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Bayesian</a:t>
                      </a:r>
                      <a:endParaRPr lang="en-NL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Deep learning</a:t>
                      </a:r>
                      <a:endParaRPr lang="en-NL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8748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Training cost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  <a:endParaRPr lang="en-NL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endParaRPr lang="en-NL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067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Inference cost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endParaRPr lang="en-NL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  <a:endParaRPr lang="en-NL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2284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Prior needed?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– mathematical description</a:t>
                      </a:r>
                      <a:endParaRPr lang="en-NL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– ability to sample</a:t>
                      </a:r>
                      <a:endParaRPr lang="en-NL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359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Uncertainty reported?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Implicitly available</a:t>
                      </a:r>
                      <a:endParaRPr lang="en-NL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Only for some approaches</a:t>
                      </a:r>
                      <a:endParaRPr lang="en-NL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444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2722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fb201b44d4_0_0"/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sp>
        <p:nvSpPr>
          <p:cNvPr id="249" name="Google Shape;249;g2fb201b44d4_0_0"/>
          <p:cNvSpPr/>
          <p:nvPr/>
        </p:nvSpPr>
        <p:spPr>
          <a:xfrm rot="5400000" flipH="1">
            <a:off x="2173651" y="-2493600"/>
            <a:ext cx="4657500" cy="9588000"/>
          </a:xfrm>
          <a:prstGeom prst="rect">
            <a:avLst/>
          </a:prstGeom>
          <a:solidFill>
            <a:srgbClr val="3CBEEC">
              <a:alpha val="745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AE04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0" name="Google Shape;250;g2fb201b44d4_0_0"/>
          <p:cNvSpPr txBox="1"/>
          <p:nvPr/>
        </p:nvSpPr>
        <p:spPr>
          <a:xfrm>
            <a:off x="2541799" y="1484862"/>
            <a:ext cx="3921300" cy="16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Question and Answer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1"/>
          <p:cNvSpPr/>
          <p:nvPr/>
        </p:nvSpPr>
        <p:spPr>
          <a:xfrm>
            <a:off x="-190500" y="0"/>
            <a:ext cx="94107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256" name="Google Shape;25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28387" y="2190750"/>
            <a:ext cx="1972925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1"/>
          <p:cNvSpPr txBox="1">
            <a:spLocks noGrp="1"/>
          </p:cNvSpPr>
          <p:nvPr>
            <p:ph type="sldNum" idx="12"/>
          </p:nvPr>
        </p:nvSpPr>
        <p:spPr>
          <a:xfrm>
            <a:off x="6934200" y="4794706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258" name="Google Shape;258;p21"/>
          <p:cNvSpPr/>
          <p:nvPr/>
        </p:nvSpPr>
        <p:spPr>
          <a:xfrm>
            <a:off x="8610600" y="4705350"/>
            <a:ext cx="381000" cy="3639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Google Shape;259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8093834">
            <a:off x="-1351692" y="-341884"/>
            <a:ext cx="4189629" cy="24404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2700754">
            <a:off x="5926798" y="2601165"/>
            <a:ext cx="5190308" cy="2964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Kaggle">
  <a:themeElements>
    <a:clrScheme name="Custom 1">
      <a:dk1>
        <a:srgbClr val="262626"/>
      </a:dk1>
      <a:lt1>
        <a:srgbClr val="FFFFFF"/>
      </a:lt1>
      <a:dk2>
        <a:srgbClr val="595959"/>
      </a:dk2>
      <a:lt2>
        <a:srgbClr val="FFFFFF"/>
      </a:lt2>
      <a:accent1>
        <a:srgbClr val="20BEFF"/>
      </a:accent1>
      <a:accent2>
        <a:srgbClr val="FF9953"/>
      </a:accent2>
      <a:accent3>
        <a:srgbClr val="FF1379"/>
      </a:accent3>
      <a:accent4>
        <a:srgbClr val="FFE113"/>
      </a:accent4>
      <a:accent5>
        <a:srgbClr val="0580B2"/>
      </a:accent5>
      <a:accent6>
        <a:srgbClr val="05DE89"/>
      </a:accent6>
      <a:hlink>
        <a:srgbClr val="20BEFF"/>
      </a:hlink>
      <a:folHlink>
        <a:srgbClr val="0580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578</Words>
  <Application>Microsoft Office PowerPoint</Application>
  <PresentationFormat>On-screen Show (16:9)</PresentationFormat>
  <Paragraphs>114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Verdana</vt:lpstr>
      <vt:lpstr>Open Sans</vt:lpstr>
      <vt:lpstr>Inter</vt:lpstr>
      <vt:lpstr>Arial Narrow</vt:lpstr>
      <vt:lpstr>Calibri</vt:lpstr>
      <vt:lpstr>Arial</vt:lpstr>
      <vt:lpstr>Cambria Math</vt:lpstr>
      <vt:lpstr>Wingdings</vt:lpstr>
      <vt:lpstr>Kaggle</vt:lpstr>
      <vt:lpstr>Bayesian Full Waveform Inversion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Chris</dc:creator>
  <cp:lastModifiedBy>Jeroen Cottaar</cp:lastModifiedBy>
  <cp:revision>5</cp:revision>
  <dcterms:created xsi:type="dcterms:W3CDTF">2012-07-01T20:21:58Z</dcterms:created>
  <dcterms:modified xsi:type="dcterms:W3CDTF">2025-08-11T20:51:37Z</dcterms:modified>
</cp:coreProperties>
</file>
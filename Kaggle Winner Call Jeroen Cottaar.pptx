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1" r:id="rId4"/>
    <p:sldId id="258" r:id="rId5"/>
    <p:sldId id="282" r:id="rId6"/>
    <p:sldId id="284" r:id="rId7"/>
    <p:sldId id="280" r:id="rId8"/>
    <p:sldId id="287" r:id="rId9"/>
    <p:sldId id="281" r:id="rId10"/>
    <p:sldId id="279" r:id="rId11"/>
    <p:sldId id="285" r:id="rId12"/>
    <p:sldId id="286" r:id="rId13"/>
    <p:sldId id="277" r:id="rId14"/>
    <p:sldId id="278" r:id="rId15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7"/>
      <p:bold r:id="rId18"/>
      <p:italic r:id="rId19"/>
      <p:boldItalic r:id="rId20"/>
    </p:embeddedFont>
    <p:embeddedFont>
      <p:font typeface="Cambria Math" panose="02040503050406030204" pitchFamily="18" charset="0"/>
      <p:regular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1968">
          <p15:clr>
            <a:srgbClr val="A4A3A4"/>
          </p15:clr>
        </p15:guide>
        <p15:guide id="3" orient="horz" pos="756">
          <p15:clr>
            <a:srgbClr val="A4A3A4"/>
          </p15:clr>
        </p15:guide>
        <p15:guide id="4" pos="1728">
          <p15:clr>
            <a:srgbClr val="A4A3A4"/>
          </p15:clr>
        </p15:guide>
        <p15:guide id="5" pos="2016">
          <p15:clr>
            <a:srgbClr val="A4A3A4"/>
          </p15:clr>
        </p15:guide>
        <p15:guide id="6" orient="horz" pos="2244">
          <p15:clr>
            <a:srgbClr val="A4A3A4"/>
          </p15:clr>
        </p15:guide>
        <p15:guide id="7" orient="horz" pos="948">
          <p15:clr>
            <a:srgbClr val="A4A3A4"/>
          </p15:clr>
        </p15:guide>
        <p15:guide id="8" pos="1872">
          <p15:clr>
            <a:srgbClr val="A4A3A4"/>
          </p15:clr>
        </p15:guide>
        <p15:guide id="9" pos="2544">
          <p15:clr>
            <a:srgbClr val="A4A3A4"/>
          </p15:clr>
        </p15:guide>
        <p15:guide id="10" orient="horz" pos="2100">
          <p15:clr>
            <a:srgbClr val="A4A3A4"/>
          </p15:clr>
        </p15:guide>
        <p15:guide id="11" orient="horz" pos="228">
          <p15:clr>
            <a:srgbClr val="A4A3A4"/>
          </p15:clr>
        </p15:guide>
        <p15:guide id="12" orient="horz" pos="2288">
          <p15:clr>
            <a:srgbClr val="A4A3A4"/>
          </p15:clr>
        </p15:guide>
        <p15:guide id="13" pos="1632">
          <p15:clr>
            <a:srgbClr val="A4A3A4"/>
          </p15:clr>
        </p15:guide>
        <p15:guide id="14" pos="1824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sjjuIvnMFVpNr84Rn9o5HUti3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75" autoAdjust="0"/>
  </p:normalViewPr>
  <p:slideViewPr>
    <p:cSldViewPr snapToGrid="0">
      <p:cViewPr varScale="1">
        <p:scale>
          <a:sx n="186" d="100"/>
          <a:sy n="186" d="100"/>
        </p:scale>
        <p:origin x="516" y="150"/>
      </p:cViewPr>
      <p:guideLst>
        <p:guide orient="horz" pos="1008"/>
        <p:guide pos="1968"/>
        <p:guide orient="horz" pos="756"/>
        <p:guide pos="1728"/>
        <p:guide pos="2016"/>
        <p:guide orient="horz" pos="2244"/>
        <p:guide orient="horz" pos="948"/>
        <p:guide pos="1872"/>
        <p:guide pos="2544"/>
        <p:guide orient="horz" pos="2100"/>
        <p:guide orient="horz" pos="228"/>
        <p:guide orient="horz" pos="2288"/>
        <p:guide pos="1632"/>
        <p:guide pos="1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Recommending picking out he most interesting and important parts from your documentation. </a:t>
            </a: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Mention $700 total cost for inference</a:t>
            </a:r>
            <a:endParaRPr dirty="0"/>
          </a:p>
        </p:txBody>
      </p:sp>
      <p:sp>
        <p:nvSpPr>
          <p:cNvPr id="98" name="Google Shape;9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38702FDD-0E5E-D3D3-2418-E5767F2F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668BB78B-8E0C-94BA-4A96-A4CA2B2C19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5C3E522C-9A71-27BE-EEC1-9F504756E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C4381FEC-F0E8-B1BF-D0DB-D9D4E9356F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809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E7140562-F939-EFCE-63DD-B1A34244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66D7470F-752D-3A8D-5EC7-582FDB7805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021D0680-29EF-D436-6BE6-2BB2AF234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9FA34C8A-8C31-0FF6-8BE1-3F16917D5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0283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6B98735C-8DE0-575F-5BBE-038B0E9F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867FB8D4-7615-54B1-E03B-0E51FC3306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65649104-8BAD-D8D6-03E7-199E5FBCE6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ADAD4251-910A-47E4-FE32-9D362EAAB3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168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F031EA6F-4CE0-E579-6189-6785790A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8DEE170D-3EE4-CC98-63E9-1D20A3B9D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0CC8CD08-9030-6F42-8C43-2E30391B0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345A779C-7690-F843-49E6-EB66D2AF75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3440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11C2DDD5-81E0-6AD6-7A2A-BE9027C4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0F324A22-1800-5A5C-872A-E799D2DD7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BE1C861D-0FE1-7CBD-E2BE-FAD3B75DB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158AE891-B752-CC97-2B44-161EF3CFC7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4968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6696FE28-D810-90B0-9A78-AE9D4FA4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18895207-CBC4-3CAD-2070-83B620AD3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AA7F5DB6-D963-827F-BD10-298C9F766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C5E71D35-8A4A-8EB7-4C2F-C0A90E166A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067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4DAB01D7-72ED-4B7D-794D-CEF61DAC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50A241B8-A17F-E48D-EDFF-2826A3FA8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4ABB9884-C6BF-1A82-13E2-D8895DED4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C5CA3B76-E47F-7771-1900-2A9E4BA24C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9692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A35E813E-E90A-9C8B-8510-53F661046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2AA8C886-0DCD-0B85-2AD7-88CC08E04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>
            <a:extLst>
              <a:ext uri="{FF2B5EF4-FFF2-40B4-BE49-F238E27FC236}">
                <a16:creationId xmlns:a16="http://schemas.microsoft.com/office/drawing/2014/main" id="{344F428E-9E34-A42B-FC83-76B45BD80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>
            <a:extLst>
              <a:ext uri="{FF2B5EF4-FFF2-40B4-BE49-F238E27FC236}">
                <a16:creationId xmlns:a16="http://schemas.microsoft.com/office/drawing/2014/main" id="{2F79F347-CFD2-2C75-1EC5-103D5AF6E5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5192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b201b44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2fb201b44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2fb201b44d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460375" y="3146981"/>
            <a:ext cx="8237540" cy="115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B8B8B"/>
              </a:buClr>
              <a:buSzPts val="2400"/>
              <a:buNone/>
              <a:defRPr>
                <a:solidFill>
                  <a:srgbClr val="8B8B8B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B8B8B"/>
              </a:buClr>
              <a:buSzPts val="2000"/>
              <a:buNone/>
              <a:defRPr>
                <a:solidFill>
                  <a:srgbClr val="8B8B8B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>
                <a:solidFill>
                  <a:srgbClr val="8B8B8B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>
                <a:solidFill>
                  <a:srgbClr val="8B8B8B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B8B8B"/>
              </a:buClr>
              <a:buSzPts val="2000"/>
              <a:buNone/>
              <a:defRPr>
                <a:solidFill>
                  <a:srgbClr val="8B8B8B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B8B8B"/>
              </a:buClr>
              <a:buSzPts val="2000"/>
              <a:buNone/>
              <a:defRPr>
                <a:solidFill>
                  <a:srgbClr val="8B8B8B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B8B8B"/>
              </a:buClr>
              <a:buSzPts val="2000"/>
              <a:buNone/>
              <a:defRPr>
                <a:solidFill>
                  <a:srgbClr val="8B8B8B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B8B8B"/>
              </a:buClr>
              <a:buSzPts val="2000"/>
              <a:buNone/>
              <a:defRPr>
                <a:solidFill>
                  <a:srgbClr val="8B8B8B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460380" y="361510"/>
            <a:ext cx="8237539" cy="27163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/>
        </p:nvSpPr>
        <p:spPr>
          <a:xfrm>
            <a:off x="3733800" y="4794706"/>
            <a:ext cx="20820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29292"/>
                </a:solidFill>
                <a:latin typeface="Inter"/>
                <a:ea typeface="Inter"/>
                <a:cs typeface="Inter"/>
                <a:sym typeface="Inter"/>
              </a:rPr>
              <a:t>Kaggle Winner Presentation Template</a:t>
            </a:r>
            <a:endParaRPr sz="800" b="0" i="0" u="none" strike="noStrike" cap="none">
              <a:solidFill>
                <a:srgbClr val="92929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" name="Google Shape;1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109" y="4794706"/>
            <a:ext cx="557815" cy="21544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4"/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B8B8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uge Chapter Head">
  <p:cSld name="Huge Chapter Head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title"/>
          </p:nvPr>
        </p:nvSpPr>
        <p:spPr>
          <a:xfrm>
            <a:off x="285750" y="2648619"/>
            <a:ext cx="7639050" cy="15022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 descr="bb_arrow.png"/>
          <p:cNvSpPr/>
          <p:nvPr/>
        </p:nvSpPr>
        <p:spPr>
          <a:xfrm flipH="1">
            <a:off x="8088630" y="3718467"/>
            <a:ext cx="201168" cy="1897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857250" y="427832"/>
            <a:ext cx="7429500" cy="529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857250" y="957262"/>
            <a:ext cx="7429500" cy="358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6" descr="bb_arrow.png"/>
          <p:cNvSpPr/>
          <p:nvPr/>
        </p:nvSpPr>
        <p:spPr>
          <a:xfrm>
            <a:off x="563880" y="610649"/>
            <a:ext cx="201168" cy="1897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B8B8B"/>
              </a:buClr>
              <a:buSzPts val="2000"/>
              <a:buNone/>
              <a:defRPr sz="2000">
                <a:solidFill>
                  <a:srgbClr val="8B8B8B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 sz="1800">
                <a:solidFill>
                  <a:srgbClr val="8B8B8B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B8B8B"/>
              </a:buClr>
              <a:buSzPts val="1600"/>
              <a:buNone/>
              <a:defRPr sz="1600">
                <a:solidFill>
                  <a:srgbClr val="8B8B8B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B8B8B"/>
              </a:buClr>
              <a:buSzPts val="1400"/>
              <a:buNone/>
              <a:defRPr sz="1400">
                <a:solidFill>
                  <a:srgbClr val="8B8B8B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7" descr="bb_arrow.png"/>
          <p:cNvSpPr/>
          <p:nvPr/>
        </p:nvSpPr>
        <p:spPr>
          <a:xfrm>
            <a:off x="463296" y="3461007"/>
            <a:ext cx="201168" cy="1897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>
            <a:spLocks noGrp="1"/>
          </p:cNvSpPr>
          <p:nvPr>
            <p:ph type="title"/>
          </p:nvPr>
        </p:nvSpPr>
        <p:spPr>
          <a:xfrm>
            <a:off x="857250" y="427832"/>
            <a:ext cx="7429500" cy="529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1"/>
          </p:nvPr>
        </p:nvSpPr>
        <p:spPr>
          <a:xfrm>
            <a:off x="457200" y="120015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body" idx="2"/>
          </p:nvPr>
        </p:nvSpPr>
        <p:spPr>
          <a:xfrm>
            <a:off x="4648200" y="1200154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28" descr="bb_arrow.png"/>
          <p:cNvSpPr/>
          <p:nvPr/>
        </p:nvSpPr>
        <p:spPr>
          <a:xfrm>
            <a:off x="563880" y="610649"/>
            <a:ext cx="201168" cy="1897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>
            <a:spLocks noGrp="1"/>
          </p:cNvSpPr>
          <p:nvPr>
            <p:ph type="title"/>
          </p:nvPr>
        </p:nvSpPr>
        <p:spPr>
          <a:xfrm>
            <a:off x="857250" y="427832"/>
            <a:ext cx="7429500" cy="529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1"/>
          </p:nvPr>
        </p:nvSpPr>
        <p:spPr>
          <a:xfrm>
            <a:off x="457200" y="96559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2"/>
          </p:nvPr>
        </p:nvSpPr>
        <p:spPr>
          <a:xfrm>
            <a:off x="457200" y="1445419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3"/>
          </p:nvPr>
        </p:nvSpPr>
        <p:spPr>
          <a:xfrm>
            <a:off x="4645031" y="96559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4"/>
          </p:nvPr>
        </p:nvSpPr>
        <p:spPr>
          <a:xfrm>
            <a:off x="4645031" y="1445419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1" name="Google Shape;41;p29" descr="bb_arrow.png"/>
          <p:cNvSpPr/>
          <p:nvPr/>
        </p:nvSpPr>
        <p:spPr>
          <a:xfrm>
            <a:off x="563880" y="610649"/>
            <a:ext cx="201168" cy="1897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>
            <a:spLocks noGrp="1"/>
          </p:cNvSpPr>
          <p:nvPr>
            <p:ph type="title"/>
          </p:nvPr>
        </p:nvSpPr>
        <p:spPr>
          <a:xfrm>
            <a:off x="857250" y="427832"/>
            <a:ext cx="7429500" cy="529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>
            <a:spLocks noGrp="1"/>
          </p:cNvSpPr>
          <p:nvPr>
            <p:ph type="title"/>
          </p:nvPr>
        </p:nvSpPr>
        <p:spPr>
          <a:xfrm>
            <a:off x="704851" y="470395"/>
            <a:ext cx="2703516" cy="7832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1"/>
          </p:nvPr>
        </p:nvSpPr>
        <p:spPr>
          <a:xfrm>
            <a:off x="3738756" y="470039"/>
            <a:ext cx="4593838" cy="3945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2"/>
          </p:nvPr>
        </p:nvSpPr>
        <p:spPr>
          <a:xfrm>
            <a:off x="704851" y="1254561"/>
            <a:ext cx="2703516" cy="316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" name="Google Shape;48;p31" descr="bb_arrow.png"/>
          <p:cNvSpPr/>
          <p:nvPr/>
        </p:nvSpPr>
        <p:spPr>
          <a:xfrm>
            <a:off x="425196" y="786102"/>
            <a:ext cx="201168" cy="1897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57250" y="427832"/>
            <a:ext cx="7429500" cy="529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57250" y="957262"/>
            <a:ext cx="7429500" cy="358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brendanartley/caformer-full-resolution-improved/notebook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608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-190500" y="0"/>
            <a:ext cx="941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title"/>
          </p:nvPr>
        </p:nvSpPr>
        <p:spPr>
          <a:xfrm>
            <a:off x="1219200" y="1789173"/>
            <a:ext cx="6705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0" tIns="360000" rIns="91425" bIns="360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Bayesian Full Waveform Inversion</a:t>
            </a:r>
            <a:endParaRPr sz="40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2900" y="285750"/>
            <a:ext cx="838200" cy="32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54942">
            <a:off x="-1228906" y="3218494"/>
            <a:ext cx="4189629" cy="244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982496">
            <a:off x="6157459" y="-468357"/>
            <a:ext cx="5190308" cy="296496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2247900" y="4038613"/>
            <a:ext cx="4648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Jeroen Cottaar</a:t>
            </a:r>
            <a:endParaRPr dirty="0"/>
          </a:p>
        </p:txBody>
      </p:sp>
      <p:sp>
        <p:nvSpPr>
          <p:cNvPr id="2" name="Google Shape;59;p1">
            <a:extLst>
              <a:ext uri="{FF2B5EF4-FFF2-40B4-BE49-F238E27FC236}">
                <a16:creationId xmlns:a16="http://schemas.microsoft.com/office/drawing/2014/main" id="{D8A539CE-D07B-D87A-2B94-C85789E98F4E}"/>
              </a:ext>
            </a:extLst>
          </p:cNvPr>
          <p:cNvSpPr txBox="1"/>
          <p:nvPr/>
        </p:nvSpPr>
        <p:spPr>
          <a:xfrm>
            <a:off x="2247900" y="3242920"/>
            <a:ext cx="46482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place, Yale/UNC-CH - Geophysical Waveform Inversion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1219200" y="1055133"/>
            <a:ext cx="58293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 have a PhD in computational physics</a:t>
            </a: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 currently work at ASML, a semiconductor equipment company, in the Netherlands</a:t>
            </a: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I’ve been applying Bayesian methods in my career for 5 years, and on Kaggle for 1 year</a:t>
            </a:r>
          </a:p>
        </p:txBody>
      </p:sp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274983" y="183874"/>
            <a:ext cx="513521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Background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" name="Google Shape;94;p5"/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74983" y="183874"/>
            <a:ext cx="513521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" name="Google Shape;103;p6"/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3CF8DDB-2A1E-6910-F17C-BA772FD13803}"/>
              </a:ext>
            </a:extLst>
          </p:cNvPr>
          <p:cNvSpPr/>
          <p:nvPr/>
        </p:nvSpPr>
        <p:spPr>
          <a:xfrm>
            <a:off x="1656426" y="1618256"/>
            <a:ext cx="1456882" cy="708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Deep learning model by Brendan Artley</a:t>
            </a:r>
            <a:endParaRPr lang="en-NL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CAFF4-7E02-CF63-FC3D-EB287FD2C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16" y="1369699"/>
            <a:ext cx="1249044" cy="12060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AFBD80-DDC5-D5A2-CFD0-835F39F0076B}"/>
              </a:ext>
            </a:extLst>
          </p:cNvPr>
          <p:cNvSpPr/>
          <p:nvPr/>
        </p:nvSpPr>
        <p:spPr>
          <a:xfrm>
            <a:off x="3424255" y="1618256"/>
            <a:ext cx="1456882" cy="7089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Select prior: </a:t>
            </a:r>
            <a:r>
              <a:rPr lang="en-US" dirty="0" err="1">
                <a:solidFill>
                  <a:schemeClr val="tx1"/>
                </a:solidFill>
              </a:rPr>
              <a:t>StyleA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StyleB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FlatVel</a:t>
            </a:r>
            <a:r>
              <a:rPr lang="en-US" dirty="0">
                <a:solidFill>
                  <a:schemeClr val="tx1"/>
                </a:solidFill>
              </a:rPr>
              <a:t>, other</a:t>
            </a:r>
            <a:endParaRPr lang="en-NL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CB08E1-0F39-9346-427C-AB2B683814DF}"/>
                  </a:ext>
                </a:extLst>
              </p:cNvPr>
              <p:cNvSpPr/>
              <p:nvPr/>
            </p:nvSpPr>
            <p:spPr>
              <a:xfrm>
                <a:off x="5126987" y="1618256"/>
                <a:ext cx="2312058" cy="70897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Bayesian FWI: minimize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9CB08E1-0F39-9346-427C-AB2B683814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987" y="1618256"/>
                <a:ext cx="2312058" cy="708974"/>
              </a:xfrm>
              <a:prstGeom prst="rect">
                <a:avLst/>
              </a:prstGeom>
              <a:blipFill>
                <a:blip r:embed="rId4"/>
                <a:stretch>
                  <a:fillRect t="-82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E0CEF98-19E1-8518-9102-158C6A663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814" y="1369699"/>
            <a:ext cx="1216001" cy="120608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09452D-C90C-CEE9-C6D9-782B13EDD382}"/>
              </a:ext>
            </a:extLst>
          </p:cNvPr>
          <p:cNvCxnSpPr>
            <a:stCxn id="3" idx="3"/>
            <a:endCxn id="2" idx="1"/>
          </p:cNvCxnSpPr>
          <p:nvPr/>
        </p:nvCxnSpPr>
        <p:spPr>
          <a:xfrm>
            <a:off x="1423560" y="1972743"/>
            <a:ext cx="232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A24E13-B11E-0C89-D1B4-EF435BA1A6DE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3113308" y="1972743"/>
            <a:ext cx="310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B3A9FA-923D-2F3F-8646-CCF550AA55F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881137" y="1972743"/>
            <a:ext cx="245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0F7B1C-145B-4121-8228-17433077498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439045" y="1972743"/>
            <a:ext cx="246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2721FAD-0CD1-2878-3554-848CB674ADA9}"/>
              </a:ext>
            </a:extLst>
          </p:cNvPr>
          <p:cNvSpPr/>
          <p:nvPr/>
        </p:nvSpPr>
        <p:spPr>
          <a:xfrm>
            <a:off x="1496168" y="1369699"/>
            <a:ext cx="374288" cy="350599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NL" sz="1800" b="1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72685E-D8D8-5878-79AC-2893CA2671C1}"/>
              </a:ext>
            </a:extLst>
          </p:cNvPr>
          <p:cNvSpPr/>
          <p:nvPr/>
        </p:nvSpPr>
        <p:spPr>
          <a:xfrm>
            <a:off x="3231897" y="1369697"/>
            <a:ext cx="374288" cy="350599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NL" sz="1800" b="1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B52785-8998-BFE6-669C-1B847DCC0CED}"/>
              </a:ext>
            </a:extLst>
          </p:cNvPr>
          <p:cNvSpPr/>
          <p:nvPr/>
        </p:nvSpPr>
        <p:spPr>
          <a:xfrm>
            <a:off x="5004940" y="1330776"/>
            <a:ext cx="374288" cy="350599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NL" sz="1800" b="1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D61694E-8521-F8FF-7F0B-E07CBA474309}"/>
              </a:ext>
            </a:extLst>
          </p:cNvPr>
          <p:cNvSpPr/>
          <p:nvPr/>
        </p:nvSpPr>
        <p:spPr>
          <a:xfrm>
            <a:off x="2317355" y="3662717"/>
            <a:ext cx="374288" cy="350599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NL" sz="1800" b="1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10F748E-888E-86F5-E97E-2A43FA8577E9}"/>
              </a:ext>
            </a:extLst>
          </p:cNvPr>
          <p:cNvSpPr/>
          <p:nvPr/>
        </p:nvSpPr>
        <p:spPr>
          <a:xfrm>
            <a:off x="2315164" y="4239887"/>
            <a:ext cx="374288" cy="350599"/>
          </a:xfrm>
          <a:prstGeom prst="ellipse">
            <a:avLst/>
          </a:prstGeom>
          <a:solidFill>
            <a:schemeClr val="accent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NL" sz="1800" b="1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6CE685-96D1-CB7F-2805-14D90E282820}"/>
              </a:ext>
            </a:extLst>
          </p:cNvPr>
          <p:cNvSpPr txBox="1"/>
          <p:nvPr/>
        </p:nvSpPr>
        <p:spPr>
          <a:xfrm>
            <a:off x="2772483" y="3705539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Making it all fast enough</a:t>
            </a:r>
            <a:endParaRPr lang="en-N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C75996-C2C7-FCE0-A63A-B98E25C9536C}"/>
              </a:ext>
            </a:extLst>
          </p:cNvPr>
          <p:cNvSpPr txBox="1"/>
          <p:nvPr/>
        </p:nvSpPr>
        <p:spPr>
          <a:xfrm>
            <a:off x="2770292" y="4261297"/>
            <a:ext cx="43428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thoughts: Bayesian methods vs deep learning</a:t>
            </a:r>
            <a:endParaRPr lang="en-NL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D04F2D-68BD-9A1F-7E9B-F3CE22DABA0C}"/>
              </a:ext>
            </a:extLst>
          </p:cNvPr>
          <p:cNvSpPr txBox="1"/>
          <p:nvPr/>
        </p:nvSpPr>
        <p:spPr>
          <a:xfrm>
            <a:off x="5107920" y="2039164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Cost</a:t>
            </a:r>
            <a:endParaRPr lang="en-NL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7B0AE8-F9FD-723E-C693-A77E6AADEC39}"/>
              </a:ext>
            </a:extLst>
          </p:cNvPr>
          <p:cNvSpPr txBox="1"/>
          <p:nvPr/>
        </p:nvSpPr>
        <p:spPr>
          <a:xfrm>
            <a:off x="5700516" y="2048406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Prior</a:t>
            </a:r>
            <a:endParaRPr lang="en-NL" sz="120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4A981A-7B9B-4C65-1F66-31B122EFA50B}"/>
              </a:ext>
            </a:extLst>
          </p:cNvPr>
          <p:cNvSpPr txBox="1"/>
          <p:nvPr/>
        </p:nvSpPr>
        <p:spPr>
          <a:xfrm>
            <a:off x="6454839" y="2048406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Residual</a:t>
            </a:r>
            <a:endParaRPr lang="en-NL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1B2E5-3FEE-F4F2-73AC-41D3A11E3702}"/>
              </a:ext>
            </a:extLst>
          </p:cNvPr>
          <p:cNvSpPr txBox="1"/>
          <p:nvPr/>
        </p:nvSpPr>
        <p:spPr>
          <a:xfrm>
            <a:off x="208942" y="2674342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  <a:endParaRPr lang="en-NL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E16EC2-1A62-DA1D-CE84-DD8F13D738A0}"/>
              </a:ext>
            </a:extLst>
          </p:cNvPr>
          <p:cNvSpPr txBox="1"/>
          <p:nvPr/>
        </p:nvSpPr>
        <p:spPr>
          <a:xfrm>
            <a:off x="208942" y="3087071"/>
            <a:ext cx="1384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Inference (per seismogram)</a:t>
            </a:r>
            <a:endParaRPr lang="en-NL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C6F36B-EDB5-1883-1597-795F3E703990}"/>
              </a:ext>
            </a:extLst>
          </p:cNvPr>
          <p:cNvSpPr txBox="1"/>
          <p:nvPr/>
        </p:nvSpPr>
        <p:spPr>
          <a:xfrm>
            <a:off x="1593322" y="2674342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192 hours on 4090</a:t>
            </a:r>
            <a:endParaRPr lang="en-NL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B6466A-DAAC-0431-FBC2-236FF930C3A3}"/>
              </a:ext>
            </a:extLst>
          </p:cNvPr>
          <p:cNvSpPr txBox="1"/>
          <p:nvPr/>
        </p:nvSpPr>
        <p:spPr>
          <a:xfrm>
            <a:off x="1895453" y="3141643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Negligible</a:t>
            </a:r>
            <a:endParaRPr lang="en-NL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11D8DD-5C9E-9834-A3E3-A83CCCCD7EE6}"/>
              </a:ext>
            </a:extLst>
          </p:cNvPr>
          <p:cNvSpPr txBox="1"/>
          <p:nvPr/>
        </p:nvSpPr>
        <p:spPr>
          <a:xfrm>
            <a:off x="3666825" y="2667484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Negligible</a:t>
            </a:r>
            <a:endParaRPr lang="en-NL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AFCF45-9582-1A67-E9C6-7EE916F4B51B}"/>
              </a:ext>
            </a:extLst>
          </p:cNvPr>
          <p:cNvSpPr txBox="1"/>
          <p:nvPr/>
        </p:nvSpPr>
        <p:spPr>
          <a:xfrm>
            <a:off x="3666825" y="3140376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Negligible</a:t>
            </a:r>
            <a:endParaRPr lang="en-NL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3CB4FC-58EE-C80A-5053-027C478AC033}"/>
              </a:ext>
            </a:extLst>
          </p:cNvPr>
          <p:cNvSpPr txBox="1"/>
          <p:nvPr/>
        </p:nvSpPr>
        <p:spPr>
          <a:xfrm>
            <a:off x="5797145" y="2667483"/>
            <a:ext cx="971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Negligible</a:t>
            </a:r>
            <a:endParaRPr lang="en-NL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419DC7-A9F6-350B-9BAD-27BEF1AC42CE}"/>
              </a:ext>
            </a:extLst>
          </p:cNvPr>
          <p:cNvSpPr txBox="1"/>
          <p:nvPr/>
        </p:nvSpPr>
        <p:spPr>
          <a:xfrm>
            <a:off x="5438277" y="3140375"/>
            <a:ext cx="16770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minutes on V100</a:t>
            </a:r>
            <a:endParaRPr lang="en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Deep learning provides the initial solution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1;p5">
            <a:extLst>
              <a:ext uri="{FF2B5EF4-FFF2-40B4-BE49-F238E27FC236}">
                <a16:creationId xmlns:a16="http://schemas.microsoft.com/office/drawing/2014/main" id="{36CDD1E7-6E6A-2A45-16DF-4CE109683A56}"/>
              </a:ext>
            </a:extLst>
          </p:cNvPr>
          <p:cNvSpPr txBox="1"/>
          <p:nvPr/>
        </p:nvSpPr>
        <p:spPr>
          <a:xfrm>
            <a:off x="1219200" y="1055133"/>
            <a:ext cx="58293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 used the model public shared by Brendan Artley early in the competition; I made no attempts to improve it (assuming deep learning could not go much further…)</a:t>
            </a: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Model is </a:t>
            </a:r>
            <a:r>
              <a:rPr lang="en-US" sz="20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CAFormer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 vision transform model with cross-attention</a:t>
            </a: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Additional tricks: pixel shuffle (better </a:t>
            </a:r>
            <a:r>
              <a:rPr lang="en-US" sz="2000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upsampling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), intermediate convolution, spatial and channel squeeze-and-excitation</a:t>
            </a:r>
          </a:p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Everything I know: </a:t>
            </a: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Brendan's notebook</a:t>
            </a:r>
            <a:endParaRPr lang="en-US" sz="20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000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3428220-9365-6981-EFCA-93DC8945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1E80D76F-BC73-B6A7-30FE-F69F156FD9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244379B4-D738-3A40-04FE-DBD74411BFDF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StyleA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Gaussian Process prior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9B6A8759-34DF-3F60-5C27-2AB205ECD35A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E452F1-BD0B-E615-A18A-F744BE6D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86" y="2682584"/>
            <a:ext cx="2269052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56E46B5-8CC8-84F5-58DE-8B2A51960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39" y="702584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16F0C56-A7A5-6D61-A29F-CDDA00BC9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712" y="702584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685211F-ADD2-0E69-ECB1-DA667741A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712" y="2682584"/>
            <a:ext cx="2269052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5D8D391-A01E-FD0E-3F09-9E80EE4F5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86" y="702584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7F1B53-887D-BBE2-DCD2-3B5EC5BDD478}"/>
              </a:ext>
            </a:extLst>
          </p:cNvPr>
          <p:cNvSpPr txBox="1"/>
          <p:nvPr/>
        </p:nvSpPr>
        <p:spPr>
          <a:xfrm>
            <a:off x="190333" y="2834639"/>
            <a:ext cx="29790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Prior: Gaussian Process with squared-exponential kernel, no noise</a:t>
            </a:r>
          </a:p>
          <a:p>
            <a:endParaRPr lang="en-US" dirty="0"/>
          </a:p>
          <a:p>
            <a:r>
              <a:rPr lang="en-US" dirty="0"/>
              <a:t>Hyperparameters trained using maximum likelihood estimation on training velocity profiles</a:t>
            </a: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C31C9-FFD6-900B-E5E9-B0F90D16F73E}"/>
              </a:ext>
            </a:extLst>
          </p:cNvPr>
          <p:cNvSpPr txBox="1"/>
          <p:nvPr/>
        </p:nvSpPr>
        <p:spPr>
          <a:xfrm>
            <a:off x="6164981" y="4761566"/>
            <a:ext cx="2281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Public test set score: 3.4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100350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B4E7918-48A2-FC8C-F635-4BF18102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F984BF0D-6106-6970-BF20-AAB360F884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BC8ADF92-572D-30A1-6C22-E025D8358C7C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StyleB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Gaussian Process prior (not doing so well…)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0119711E-2A8A-1CCF-FB1C-BEAF1CAF84CC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4E33B7-C9E3-0457-D0BD-8CF1BA6337D8}"/>
              </a:ext>
            </a:extLst>
          </p:cNvPr>
          <p:cNvSpPr txBox="1"/>
          <p:nvPr/>
        </p:nvSpPr>
        <p:spPr>
          <a:xfrm>
            <a:off x="190333" y="2834639"/>
            <a:ext cx="29790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Prior: Gaussian Process with squared-exponential kernel, with noise</a:t>
            </a:r>
          </a:p>
          <a:p>
            <a:endParaRPr lang="en-US" dirty="0"/>
          </a:p>
          <a:p>
            <a:r>
              <a:rPr lang="en-US" dirty="0"/>
              <a:t>Hyperparameters trained using maximum likelihood estimation on training velocity profiles</a:t>
            </a:r>
          </a:p>
          <a:p>
            <a:endParaRPr lang="en-US" dirty="0"/>
          </a:p>
          <a:p>
            <a:r>
              <a:rPr lang="en-US" dirty="0"/>
              <a:t>Hard to capture high-frequent stuff</a:t>
            </a:r>
            <a:endParaRPr lang="en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6A32B-B8D2-9654-35AA-6CD50DAD6493}"/>
              </a:ext>
            </a:extLst>
          </p:cNvPr>
          <p:cNvSpPr txBox="1"/>
          <p:nvPr/>
        </p:nvSpPr>
        <p:spPr>
          <a:xfrm>
            <a:off x="6164981" y="4761566"/>
            <a:ext cx="2582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Public test set score: 44.4 </a:t>
            </a:r>
            <a:r>
              <a:rPr lang="en-US" b="1" dirty="0">
                <a:sym typeface="Wingdings" panose="05000000000000000000" pitchFamily="2" charset="2"/>
              </a:rPr>
              <a:t></a:t>
            </a:r>
            <a:endParaRPr lang="en-NL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634BE2-5A3E-3CCA-9F7F-F6EAD06B9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414" y="591750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56D0B1F-7C12-93A2-58B9-168F6F6DA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078" y="627704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1961F5B-ADCD-2030-58F6-5C9C47B63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343" y="2644858"/>
            <a:ext cx="2312409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62A1D6C-E342-46A4-F898-D5A231389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742" y="518642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F7F6D391-AF47-053E-4A04-C57E79BE5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105" y="2644858"/>
            <a:ext cx="2312409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17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0A79C4B-7A83-A76E-27CC-1BD3B4F3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556D9D4A-4B3F-5A29-92C1-FD9F52EDA1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64F09719-D775-5EF4-D21E-FAC7B8771C56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FlatVelA+B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1D total variation prior 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1B6C873B-8056-F749-56DB-AFD8EC3B76D1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B71A37F-9F1F-5DF6-2D08-11981494A5DD}"/>
              </a:ext>
            </a:extLst>
          </p:cNvPr>
          <p:cNvSpPr txBox="1"/>
          <p:nvPr/>
        </p:nvSpPr>
        <p:spPr>
          <a:xfrm>
            <a:off x="190333" y="2834639"/>
            <a:ext cx="29790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Prior: 1D total variation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Allows sharp jumps, dislikes wiggles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F1015-7197-D332-126A-CE9E475F5B92}"/>
              </a:ext>
            </a:extLst>
          </p:cNvPr>
          <p:cNvSpPr txBox="1"/>
          <p:nvPr/>
        </p:nvSpPr>
        <p:spPr>
          <a:xfrm>
            <a:off x="6164981" y="4761566"/>
            <a:ext cx="2281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Public test set score: 0.0</a:t>
            </a:r>
            <a:endParaRPr lang="en-NL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00A64-1C6A-611A-46B6-A18B131D4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4" y="3183308"/>
            <a:ext cx="1965118" cy="72009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7F3D99C-8674-0E92-C471-3C9784538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40" y="460833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C5137A2-3948-26DB-9E8F-9AA8690D7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192" y="460833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69BF865-78B8-70A9-1B21-D5FC428BA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192" y="2572950"/>
            <a:ext cx="2269051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5B90280-448C-7416-45D1-BEC377751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117" y="524758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20D0BAF2-46D2-2CDF-3C28-892E71D7D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981" y="2528571"/>
            <a:ext cx="2269051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54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CBA5EE3-C29E-9825-748E-7FDC1DC4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8B4387C6-E7CC-D19D-2AB0-8ABE5072AC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59DD7718-F948-F075-0C8B-AACE604D2B2C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except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FlatVel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Style: 2D total variation prior </a:t>
            </a:r>
            <a:endParaRPr lang="en-US"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439CA1ED-87A6-2AED-259D-3BAF8B774DE9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A543784-D03F-D6A2-F4DD-D9D5E494A5C9}"/>
              </a:ext>
            </a:extLst>
          </p:cNvPr>
          <p:cNvSpPr txBox="1"/>
          <p:nvPr/>
        </p:nvSpPr>
        <p:spPr>
          <a:xfrm>
            <a:off x="190333" y="2834639"/>
            <a:ext cx="2979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Prior: 2D total variation</a:t>
            </a:r>
          </a:p>
          <a:p>
            <a:endParaRPr lang="en-US" dirty="0"/>
          </a:p>
          <a:p>
            <a:r>
              <a:rPr lang="en-US" dirty="0"/>
              <a:t>Hard to capture details near the faults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3ABF1-5303-47F5-EAC4-E440A418129F}"/>
              </a:ext>
            </a:extLst>
          </p:cNvPr>
          <p:cNvSpPr txBox="1"/>
          <p:nvPr/>
        </p:nvSpPr>
        <p:spPr>
          <a:xfrm>
            <a:off x="6164981" y="4761566"/>
            <a:ext cx="2281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Public test set score: 4.9</a:t>
            </a:r>
            <a:endParaRPr lang="en-NL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E8ED942-569A-ACEB-DA73-E432DF171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86" y="535069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ECF5E8C-85FB-A0FC-F374-537A78B78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332" y="535069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6BC543F2-69A1-7613-8494-FB6482BE1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332" y="2570550"/>
            <a:ext cx="235576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EB1C7D5-297E-DC92-6581-567B089FF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981" y="590550"/>
            <a:ext cx="229795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D5F391D4-90E9-6A4B-F7C2-0E1C30DC9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981" y="2676058"/>
            <a:ext cx="2355766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61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FAFD8682-256A-4B37-9EF6-D4421E82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121856B9-9D1A-B8EA-0F25-306CEA762D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A5B5F966-6E6C-1384-4D19-68E6ABEAE227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All except </a:t>
            </a:r>
            <a:r>
              <a:rPr lang="en-US" sz="1200" b="1" dirty="0" err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FlatVel</a:t>
            </a: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and Style: 2D total variation prior 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48A40356-B764-9F0D-FF23-ECD642135D85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0;p6">
            <a:extLst>
              <a:ext uri="{FF2B5EF4-FFF2-40B4-BE49-F238E27FC236}">
                <a16:creationId xmlns:a16="http://schemas.microsoft.com/office/drawing/2014/main" id="{7AC158C5-7DB8-B116-5715-9BA900ABECA2}"/>
              </a:ext>
            </a:extLst>
          </p:cNvPr>
          <p:cNvSpPr txBox="1"/>
          <p:nvPr/>
        </p:nvSpPr>
        <p:spPr>
          <a:xfrm>
            <a:off x="1219200" y="997227"/>
            <a:ext cx="60198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For each, shortly describe prior</a:t>
            </a:r>
          </a:p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Show an example (ground truth-&gt;DL-&gt;final)</a:t>
            </a:r>
          </a:p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If relevant show a prior example</a:t>
            </a:r>
          </a:p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Mention public test set score</a:t>
            </a:r>
          </a:p>
        </p:txBody>
      </p:sp>
    </p:spTree>
    <p:extLst>
      <p:ext uri="{BB962C8B-B14F-4D97-AF65-F5344CB8AC3E}">
        <p14:creationId xmlns:p14="http://schemas.microsoft.com/office/powerpoint/2010/main" val="2588510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B23D8C49-2CDB-03F8-23B2-52B81A41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65229B62-7007-3837-0ABE-EF3D028430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1C67E41A-BF9A-80CB-EC7B-9D8B1363F463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Bayesian Full Waveform Inversion with BFGS and Gauss-Newton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F3290FFB-39C9-3C0E-3BFA-CB6937F6DB24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0;p6">
            <a:extLst>
              <a:ext uri="{FF2B5EF4-FFF2-40B4-BE49-F238E27FC236}">
                <a16:creationId xmlns:a16="http://schemas.microsoft.com/office/drawing/2014/main" id="{2E14428D-D890-262D-C37F-A42608BDBC95}"/>
              </a:ext>
            </a:extLst>
          </p:cNvPr>
          <p:cNvSpPr txBox="1"/>
          <p:nvPr/>
        </p:nvSpPr>
        <p:spPr>
          <a:xfrm>
            <a:off x="1219200" y="997227"/>
            <a:ext cx="60198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Solver, describe shortly, why not gradient descent?, preconditioning didn’t help</a:t>
            </a:r>
          </a:p>
        </p:txBody>
      </p:sp>
    </p:spTree>
    <p:extLst>
      <p:ext uri="{BB962C8B-B14F-4D97-AF65-F5344CB8AC3E}">
        <p14:creationId xmlns:p14="http://schemas.microsoft.com/office/powerpoint/2010/main" val="2718900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8E300DB9-DAA6-E0E4-88F2-F1798369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C3AF4C51-D773-041A-8848-DDF0BA4775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49CDCCBA-72F4-38AC-5595-4207A21F3A20}"/>
              </a:ext>
            </a:extLst>
          </p:cNvPr>
          <p:cNvSpPr/>
          <p:nvPr/>
        </p:nvSpPr>
        <p:spPr>
          <a:xfrm>
            <a:off x="274983" y="183874"/>
            <a:ext cx="513521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Speedup and cost reduction techniques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CE8A37C2-011B-9773-2865-E47D0C2A933F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0;p6">
            <a:extLst>
              <a:ext uri="{FF2B5EF4-FFF2-40B4-BE49-F238E27FC236}">
                <a16:creationId xmlns:a16="http://schemas.microsoft.com/office/drawing/2014/main" id="{C37F74EC-15B4-FB4A-7E86-665759CCAFB9}"/>
              </a:ext>
            </a:extLst>
          </p:cNvPr>
          <p:cNvSpPr txBox="1"/>
          <p:nvPr/>
        </p:nvSpPr>
        <p:spPr>
          <a:xfrm>
            <a:off x="1219200" y="997227"/>
            <a:ext cx="60198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CUDA, show, should be possible to improve</a:t>
            </a:r>
          </a:p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Mention use of cheap FP64 GPU (V100)</a:t>
            </a:r>
          </a:p>
        </p:txBody>
      </p:sp>
    </p:spTree>
    <p:extLst>
      <p:ext uri="{BB962C8B-B14F-4D97-AF65-F5344CB8AC3E}">
        <p14:creationId xmlns:p14="http://schemas.microsoft.com/office/powerpoint/2010/main" val="194209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EA77980-5942-1BF1-2857-CEF29DBC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4916815F-BA95-CA82-577A-874D18CF51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117D2BFA-5863-B4F5-97BB-DB11B92C62D9}"/>
              </a:ext>
            </a:extLst>
          </p:cNvPr>
          <p:cNvSpPr/>
          <p:nvPr/>
        </p:nvSpPr>
        <p:spPr>
          <a:xfrm>
            <a:off x="274983" y="183874"/>
            <a:ext cx="51352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Closing thoughts: deep learning vs Bayesian methods for full waveform inversion</a:t>
            </a:r>
            <a:endParaRPr sz="16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3">
            <a:extLst>
              <a:ext uri="{FF2B5EF4-FFF2-40B4-BE49-F238E27FC236}">
                <a16:creationId xmlns:a16="http://schemas.microsoft.com/office/drawing/2014/main" id="{0B09DD98-AF0E-6111-B962-5E35CAB9C6E7}"/>
              </a:ext>
            </a:extLst>
          </p:cNvPr>
          <p:cNvCxnSpPr/>
          <p:nvPr/>
        </p:nvCxnSpPr>
        <p:spPr>
          <a:xfrm>
            <a:off x="304800" y="590550"/>
            <a:ext cx="8597015" cy="0"/>
          </a:xfrm>
          <a:prstGeom prst="straightConnector1">
            <a:avLst/>
          </a:prstGeom>
          <a:noFill/>
          <a:ln w="25400" cap="flat" cmpd="sng">
            <a:solidFill>
              <a:srgbClr val="FAE0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0;p6">
            <a:extLst>
              <a:ext uri="{FF2B5EF4-FFF2-40B4-BE49-F238E27FC236}">
                <a16:creationId xmlns:a16="http://schemas.microsoft.com/office/drawing/2014/main" id="{DA995027-D9F5-930E-9C50-89B81D7BF8BD}"/>
              </a:ext>
            </a:extLst>
          </p:cNvPr>
          <p:cNvSpPr txBox="1"/>
          <p:nvPr/>
        </p:nvSpPr>
        <p:spPr>
          <a:xfrm>
            <a:off x="1219200" y="997227"/>
            <a:ext cx="601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2472722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fb201b44d4_0_0"/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9" name="Google Shape;249;g2fb201b44d4_0_0"/>
          <p:cNvSpPr/>
          <p:nvPr/>
        </p:nvSpPr>
        <p:spPr>
          <a:xfrm rot="5400000" flipH="1">
            <a:off x="2173651" y="-2493600"/>
            <a:ext cx="4657500" cy="9588000"/>
          </a:xfrm>
          <a:prstGeom prst="rect">
            <a:avLst/>
          </a:prstGeom>
          <a:solidFill>
            <a:srgbClr val="3CBEEC">
              <a:alpha val="745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AE04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g2fb201b44d4_0_0"/>
          <p:cNvSpPr txBox="1"/>
          <p:nvPr/>
        </p:nvSpPr>
        <p:spPr>
          <a:xfrm>
            <a:off x="2541799" y="1484862"/>
            <a:ext cx="39213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Question and Answer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-190500" y="0"/>
            <a:ext cx="941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8387" y="2190750"/>
            <a:ext cx="19729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>
            <a:spLocks noGrp="1"/>
          </p:cNvSpPr>
          <p:nvPr>
            <p:ph type="sldNum" idx="12"/>
          </p:nvPr>
        </p:nvSpPr>
        <p:spPr>
          <a:xfrm>
            <a:off x="6934200" y="4794706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8610600" y="4705350"/>
            <a:ext cx="381000" cy="3639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8093834">
            <a:off x="-1351692" y="-341884"/>
            <a:ext cx="4189629" cy="244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00754">
            <a:off x="5926798" y="2601165"/>
            <a:ext cx="5190308" cy="296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ggle">
  <a:themeElements>
    <a:clrScheme name="Custom 1">
      <a:dk1>
        <a:srgbClr val="262626"/>
      </a:dk1>
      <a:lt1>
        <a:srgbClr val="FFFFFF"/>
      </a:lt1>
      <a:dk2>
        <a:srgbClr val="595959"/>
      </a:dk2>
      <a:lt2>
        <a:srgbClr val="FFFFFF"/>
      </a:lt2>
      <a:accent1>
        <a:srgbClr val="20BEFF"/>
      </a:accent1>
      <a:accent2>
        <a:srgbClr val="FF9953"/>
      </a:accent2>
      <a:accent3>
        <a:srgbClr val="FF1379"/>
      </a:accent3>
      <a:accent4>
        <a:srgbClr val="FFE113"/>
      </a:accent4>
      <a:accent5>
        <a:srgbClr val="0580B2"/>
      </a:accent5>
      <a:accent6>
        <a:srgbClr val="05DE89"/>
      </a:accent6>
      <a:hlink>
        <a:srgbClr val="20BEFF"/>
      </a:hlink>
      <a:folHlink>
        <a:srgbClr val="0580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465</Words>
  <Application>Microsoft Office PowerPoint</Application>
  <PresentationFormat>On-screen Show (16:9)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Verdana</vt:lpstr>
      <vt:lpstr>Open Sans</vt:lpstr>
      <vt:lpstr>Inter</vt:lpstr>
      <vt:lpstr>Arial Narrow</vt:lpstr>
      <vt:lpstr>Calibri</vt:lpstr>
      <vt:lpstr>Arial</vt:lpstr>
      <vt:lpstr>Cambria Math</vt:lpstr>
      <vt:lpstr>Wingdings</vt:lpstr>
      <vt:lpstr>Kaggle</vt:lpstr>
      <vt:lpstr>Bayesian Full Waveform Inversion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</dc:creator>
  <cp:lastModifiedBy>Jeroen Cottaar</cp:lastModifiedBy>
  <cp:revision>3</cp:revision>
  <dcterms:created xsi:type="dcterms:W3CDTF">2012-07-01T20:21:58Z</dcterms:created>
  <dcterms:modified xsi:type="dcterms:W3CDTF">2025-08-11T20:26:14Z</dcterms:modified>
</cp:coreProperties>
</file>